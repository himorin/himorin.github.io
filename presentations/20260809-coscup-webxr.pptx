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8" r:id="rId15"/>
  </p:sldIdLst>
  <p:sldSz cx="12192000" cy="6858000"/>
  <p:notesSz cx="6799263" cy="99314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1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12D323-6AC1-4CE6-9282-129D2FD0484F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DDE3BB0-AC42-41EF-8D60-D0FF05F8CCC6}">
      <dgm:prSet/>
      <dgm:spPr/>
      <dgm:t>
        <a:bodyPr/>
        <a:lstStyle/>
        <a:p>
          <a:r>
            <a:rPr kumimoji="1" lang="en-US" b="1" dirty="0"/>
            <a:t>Core feature in XR has been mostly stable</a:t>
          </a:r>
          <a:endParaRPr lang="en-US" b="1" dirty="0"/>
        </a:p>
      </dgm:t>
    </dgm:pt>
    <dgm:pt modelId="{F26F5E33-91B7-4D26-B824-F358E20B4866}" type="parTrans" cxnId="{2E1D67BC-B51F-4549-AACF-B6907F827F4B}">
      <dgm:prSet/>
      <dgm:spPr/>
      <dgm:t>
        <a:bodyPr/>
        <a:lstStyle/>
        <a:p>
          <a:endParaRPr lang="en-US"/>
        </a:p>
      </dgm:t>
    </dgm:pt>
    <dgm:pt modelId="{283A5FA7-5AE3-4D4D-B1E4-84DA7695B3BC}" type="sibTrans" cxnId="{2E1D67BC-B51F-4549-AACF-B6907F827F4B}">
      <dgm:prSet/>
      <dgm:spPr/>
      <dgm:t>
        <a:bodyPr/>
        <a:lstStyle/>
        <a:p>
          <a:endParaRPr lang="en-US"/>
        </a:p>
      </dgm:t>
    </dgm:pt>
    <dgm:pt modelId="{B03FBAFD-8527-40BD-B94D-39CBEBC43537}">
      <dgm:prSet/>
      <dgm:spPr/>
      <dgm:t>
        <a:bodyPr/>
        <a:lstStyle/>
        <a:p>
          <a:r>
            <a:rPr kumimoji="1" lang="en-US" dirty="0"/>
            <a:t>Some update from </a:t>
          </a:r>
          <a:r>
            <a:rPr kumimoji="1" lang="en-US" dirty="0" err="1"/>
            <a:t>WebIDL</a:t>
          </a:r>
          <a:r>
            <a:rPr kumimoji="1" lang="en-US" dirty="0"/>
            <a:t> limitation or underlay system (</a:t>
          </a:r>
          <a:r>
            <a:rPr kumimoji="1" lang="en-US" dirty="0" err="1"/>
            <a:t>OpenXR</a:t>
          </a:r>
          <a:r>
            <a:rPr kumimoji="1" lang="en-US" dirty="0"/>
            <a:t> etc.)</a:t>
          </a:r>
          <a:endParaRPr lang="en-US" dirty="0"/>
        </a:p>
      </dgm:t>
    </dgm:pt>
    <dgm:pt modelId="{225E9A22-D13B-442B-8DFD-7E28A9EB6831}" type="parTrans" cxnId="{8AE29063-0B13-4A9E-9A63-3AEDD4700441}">
      <dgm:prSet/>
      <dgm:spPr/>
      <dgm:t>
        <a:bodyPr/>
        <a:lstStyle/>
        <a:p>
          <a:endParaRPr lang="en-US"/>
        </a:p>
      </dgm:t>
    </dgm:pt>
    <dgm:pt modelId="{4B21D157-EA1E-41FF-9DE3-22CBECC3923D}" type="sibTrans" cxnId="{8AE29063-0B13-4A9E-9A63-3AEDD4700441}">
      <dgm:prSet/>
      <dgm:spPr/>
      <dgm:t>
        <a:bodyPr/>
        <a:lstStyle/>
        <a:p>
          <a:endParaRPr lang="en-US"/>
        </a:p>
      </dgm:t>
    </dgm:pt>
    <dgm:pt modelId="{D2DA04E4-9BEF-4F9C-B7CE-69DF35A2765D}">
      <dgm:prSet/>
      <dgm:spPr/>
      <dgm:t>
        <a:bodyPr/>
        <a:lstStyle/>
        <a:p>
          <a:r>
            <a:rPr kumimoji="1" lang="en-US"/>
            <a:t>Getting new features from generic XR (not Web), like dynamic foveation</a:t>
          </a:r>
          <a:endParaRPr lang="en-US"/>
        </a:p>
      </dgm:t>
    </dgm:pt>
    <dgm:pt modelId="{96F06D20-4A9E-4CF3-B922-31ABE804E1FE}" type="parTrans" cxnId="{8C9A2933-CE0D-4C9E-9348-14DE4329C78E}">
      <dgm:prSet/>
      <dgm:spPr/>
      <dgm:t>
        <a:bodyPr/>
        <a:lstStyle/>
        <a:p>
          <a:endParaRPr lang="en-US"/>
        </a:p>
      </dgm:t>
    </dgm:pt>
    <dgm:pt modelId="{BBD6045E-DFC7-44EE-8305-B8A24568FCC6}" type="sibTrans" cxnId="{8C9A2933-CE0D-4C9E-9348-14DE4329C78E}">
      <dgm:prSet/>
      <dgm:spPr/>
      <dgm:t>
        <a:bodyPr/>
        <a:lstStyle/>
        <a:p>
          <a:endParaRPr lang="en-US"/>
        </a:p>
      </dgm:t>
    </dgm:pt>
    <dgm:pt modelId="{1A827D45-4140-4211-97F4-A452E28B9FE1}">
      <dgm:prSet/>
      <dgm:spPr/>
      <dgm:t>
        <a:bodyPr/>
        <a:lstStyle/>
        <a:p>
          <a:r>
            <a:rPr kumimoji="1" lang="en-US"/>
            <a:t>Some goes to extension modules, with slight change into Core</a:t>
          </a:r>
          <a:endParaRPr lang="en-US"/>
        </a:p>
      </dgm:t>
    </dgm:pt>
    <dgm:pt modelId="{358AAF23-B98A-471A-93C7-586717E7C395}" type="parTrans" cxnId="{A5EFF5B5-17EF-425F-A73D-9A57B7302838}">
      <dgm:prSet/>
      <dgm:spPr/>
      <dgm:t>
        <a:bodyPr/>
        <a:lstStyle/>
        <a:p>
          <a:endParaRPr lang="en-US"/>
        </a:p>
      </dgm:t>
    </dgm:pt>
    <dgm:pt modelId="{411B8DB3-305D-4EC0-A89C-4E35336A3BFF}" type="sibTrans" cxnId="{A5EFF5B5-17EF-425F-A73D-9A57B7302838}">
      <dgm:prSet/>
      <dgm:spPr/>
      <dgm:t>
        <a:bodyPr/>
        <a:lstStyle/>
        <a:p>
          <a:endParaRPr lang="en-US"/>
        </a:p>
      </dgm:t>
    </dgm:pt>
    <dgm:pt modelId="{EC94DFBD-8460-48CE-9DFB-4E5B5614EF3E}">
      <dgm:prSet/>
      <dgm:spPr/>
      <dgm:t>
        <a:bodyPr/>
        <a:lstStyle/>
        <a:p>
          <a:r>
            <a:rPr kumimoji="1" lang="en-US" dirty="0"/>
            <a:t>No completed implementation yet, no two independent implementation</a:t>
          </a:r>
          <a:endParaRPr lang="en-US" dirty="0"/>
        </a:p>
      </dgm:t>
    </dgm:pt>
    <dgm:pt modelId="{E2C7A887-5C33-4D06-A124-9CF54D4F20CD}" type="parTrans" cxnId="{CDB97861-8D84-40F0-9554-EF76E391B554}">
      <dgm:prSet/>
      <dgm:spPr/>
      <dgm:t>
        <a:bodyPr/>
        <a:lstStyle/>
        <a:p>
          <a:endParaRPr lang="en-US"/>
        </a:p>
      </dgm:t>
    </dgm:pt>
    <dgm:pt modelId="{01BB8C27-2A2A-4C63-BC0E-555B19B251B7}" type="sibTrans" cxnId="{CDB97861-8D84-40F0-9554-EF76E391B554}">
      <dgm:prSet/>
      <dgm:spPr/>
      <dgm:t>
        <a:bodyPr/>
        <a:lstStyle/>
        <a:p>
          <a:endParaRPr lang="en-US"/>
        </a:p>
      </dgm:t>
    </dgm:pt>
    <dgm:pt modelId="{265A2749-E5A1-4685-840A-C64EC815FE03}">
      <dgm:prSet/>
      <dgm:spPr/>
      <dgm:t>
        <a:bodyPr/>
        <a:lstStyle/>
        <a:p>
          <a:r>
            <a:rPr kumimoji="1" lang="ja-JP" dirty="0"/>
            <a:t>Chromium</a:t>
          </a:r>
          <a:r>
            <a:rPr kumimoji="1" lang="en-US" dirty="0"/>
            <a:t> partly implemented </a:t>
          </a:r>
          <a:r>
            <a:rPr kumimoji="1" lang="en-US" dirty="0" err="1"/>
            <a:t>WebXR</a:t>
          </a:r>
          <a:r>
            <a:rPr kumimoji="1" lang="en-US" dirty="0"/>
            <a:t> Device API spec</a:t>
          </a:r>
          <a:endParaRPr lang="en-US" dirty="0"/>
        </a:p>
      </dgm:t>
    </dgm:pt>
    <dgm:pt modelId="{C1BA026C-A07A-42F2-88F5-837B3DA16C5C}" type="parTrans" cxnId="{1FC806C5-C71A-416D-9ACF-F9DABC5E457A}">
      <dgm:prSet/>
      <dgm:spPr/>
      <dgm:t>
        <a:bodyPr/>
        <a:lstStyle/>
        <a:p>
          <a:endParaRPr lang="en-US"/>
        </a:p>
      </dgm:t>
    </dgm:pt>
    <dgm:pt modelId="{A006B202-B3C4-40C8-BEF0-E3FD49B1EF80}" type="sibTrans" cxnId="{1FC806C5-C71A-416D-9ACF-F9DABC5E457A}">
      <dgm:prSet/>
      <dgm:spPr/>
      <dgm:t>
        <a:bodyPr/>
        <a:lstStyle/>
        <a:p>
          <a:endParaRPr lang="en-US"/>
        </a:p>
      </dgm:t>
    </dgm:pt>
    <dgm:pt modelId="{BD2E3874-304E-4872-AF6F-EB1E00713FA1}">
      <dgm:prSet/>
      <dgm:spPr/>
      <dgm:t>
        <a:bodyPr/>
        <a:lstStyle/>
        <a:p>
          <a:r>
            <a:rPr kumimoji="1" lang="en-US"/>
            <a:t>Gecko, Webkit behind flag</a:t>
          </a:r>
          <a:endParaRPr lang="en-US"/>
        </a:p>
      </dgm:t>
    </dgm:pt>
    <dgm:pt modelId="{FA3B44C4-59C3-4E94-A301-9E41FC96BA19}" type="parTrans" cxnId="{66733F3A-397C-494A-B6E2-43C029EC43B7}">
      <dgm:prSet/>
      <dgm:spPr/>
      <dgm:t>
        <a:bodyPr/>
        <a:lstStyle/>
        <a:p>
          <a:endParaRPr lang="en-US"/>
        </a:p>
      </dgm:t>
    </dgm:pt>
    <dgm:pt modelId="{03C86705-B454-4495-88EB-757405BF7E68}" type="sibTrans" cxnId="{66733F3A-397C-494A-B6E2-43C029EC43B7}">
      <dgm:prSet/>
      <dgm:spPr/>
      <dgm:t>
        <a:bodyPr/>
        <a:lstStyle/>
        <a:p>
          <a:endParaRPr lang="en-US"/>
        </a:p>
      </dgm:t>
    </dgm:pt>
    <dgm:pt modelId="{FB795CEA-EEE8-42F2-9DD9-85FD66A35DC0}">
      <dgm:prSet/>
      <dgm:spPr/>
      <dgm:t>
        <a:bodyPr/>
        <a:lstStyle/>
        <a:p>
          <a:r>
            <a:rPr kumimoji="1" lang="en-US"/>
            <a:t>Will continue living standard based mutuality level in Candidate Recommendation</a:t>
          </a:r>
          <a:endParaRPr lang="en-US"/>
        </a:p>
      </dgm:t>
    </dgm:pt>
    <dgm:pt modelId="{24807595-B7D4-4F32-9BE5-D40283628005}" type="parTrans" cxnId="{A251C50B-E71F-4D7C-8DEC-F2B8AA1192C6}">
      <dgm:prSet/>
      <dgm:spPr/>
      <dgm:t>
        <a:bodyPr/>
        <a:lstStyle/>
        <a:p>
          <a:endParaRPr lang="en-US"/>
        </a:p>
      </dgm:t>
    </dgm:pt>
    <dgm:pt modelId="{88288503-CB68-4D4F-A5AA-685ACD9F6196}" type="sibTrans" cxnId="{A251C50B-E71F-4D7C-8DEC-F2B8AA1192C6}">
      <dgm:prSet/>
      <dgm:spPr/>
      <dgm:t>
        <a:bodyPr/>
        <a:lstStyle/>
        <a:p>
          <a:endParaRPr lang="en-US"/>
        </a:p>
      </dgm:t>
    </dgm:pt>
    <dgm:pt modelId="{9502A74D-A2EC-4795-9589-6BF079DC4959}">
      <dgm:prSet/>
      <dgm:spPr/>
      <dgm:t>
        <a:bodyPr/>
        <a:lstStyle/>
        <a:p>
          <a:r>
            <a:rPr kumimoji="1" lang="en-US" b="1" dirty="0"/>
            <a:t>Some of extension modules are quite stable and implemented</a:t>
          </a:r>
          <a:endParaRPr lang="en-US" b="1" dirty="0"/>
        </a:p>
      </dgm:t>
    </dgm:pt>
    <dgm:pt modelId="{9E9F9CC0-1512-4E86-96DB-D3C756BEDD08}" type="parTrans" cxnId="{1334A52F-7205-487A-BB36-3220EAC58861}">
      <dgm:prSet/>
      <dgm:spPr/>
      <dgm:t>
        <a:bodyPr/>
        <a:lstStyle/>
        <a:p>
          <a:endParaRPr lang="en-US"/>
        </a:p>
      </dgm:t>
    </dgm:pt>
    <dgm:pt modelId="{D3E647D0-3584-47D0-B301-6D59A3B571C7}" type="sibTrans" cxnId="{1334A52F-7205-487A-BB36-3220EAC58861}">
      <dgm:prSet/>
      <dgm:spPr/>
      <dgm:t>
        <a:bodyPr/>
        <a:lstStyle/>
        <a:p>
          <a:endParaRPr lang="en-US"/>
        </a:p>
      </dgm:t>
    </dgm:pt>
    <dgm:pt modelId="{FE9FD316-ACF0-47E2-857E-DC36E6FF36B4}">
      <dgm:prSet/>
      <dgm:spPr/>
      <dgm:t>
        <a:bodyPr/>
        <a:lstStyle/>
        <a:p>
          <a:r>
            <a:rPr kumimoji="1" lang="en-US"/>
            <a:t>Like modules of AR, Gamepads, layers</a:t>
          </a:r>
          <a:endParaRPr lang="en-US"/>
        </a:p>
      </dgm:t>
    </dgm:pt>
    <dgm:pt modelId="{F06F4F2E-DB02-4A27-92F7-70866C8381C6}" type="parTrans" cxnId="{C0C1C911-92C1-434F-B9C4-5BAF09D22440}">
      <dgm:prSet/>
      <dgm:spPr/>
      <dgm:t>
        <a:bodyPr/>
        <a:lstStyle/>
        <a:p>
          <a:endParaRPr lang="en-US"/>
        </a:p>
      </dgm:t>
    </dgm:pt>
    <dgm:pt modelId="{AE32E51E-3329-4F34-8C13-BC8B7FF1B21A}" type="sibTrans" cxnId="{C0C1C911-92C1-434F-B9C4-5BAF09D22440}">
      <dgm:prSet/>
      <dgm:spPr/>
      <dgm:t>
        <a:bodyPr/>
        <a:lstStyle/>
        <a:p>
          <a:endParaRPr lang="en-US"/>
        </a:p>
      </dgm:t>
    </dgm:pt>
    <dgm:pt modelId="{4CAEC8ED-8BF1-4DE3-94A0-3FB58D59D5AD}">
      <dgm:prSet/>
      <dgm:spPr/>
      <dgm:t>
        <a:bodyPr/>
        <a:lstStyle/>
        <a:p>
          <a:r>
            <a:rPr kumimoji="1" lang="en-US"/>
            <a:t>Aiming Recommendation by two independent implementations</a:t>
          </a:r>
          <a:endParaRPr lang="en-US"/>
        </a:p>
      </dgm:t>
    </dgm:pt>
    <dgm:pt modelId="{63DF9654-FC13-46D2-98FE-45EE066B6766}" type="parTrans" cxnId="{D719CE1F-3588-4ACA-9B74-98C8E35C99DA}">
      <dgm:prSet/>
      <dgm:spPr/>
      <dgm:t>
        <a:bodyPr/>
        <a:lstStyle/>
        <a:p>
          <a:endParaRPr lang="en-US"/>
        </a:p>
      </dgm:t>
    </dgm:pt>
    <dgm:pt modelId="{FEF1A3FC-7C78-42E4-B012-3EFD95F1B573}" type="sibTrans" cxnId="{D719CE1F-3588-4ACA-9B74-98C8E35C99DA}">
      <dgm:prSet/>
      <dgm:spPr/>
      <dgm:t>
        <a:bodyPr/>
        <a:lstStyle/>
        <a:p>
          <a:endParaRPr lang="en-US"/>
        </a:p>
      </dgm:t>
    </dgm:pt>
    <dgm:pt modelId="{BE0F2C45-AD0E-4D5E-AED5-1D4632D3B3F1}">
      <dgm:prSet/>
      <dgm:spPr/>
      <dgm:t>
        <a:bodyPr/>
        <a:lstStyle/>
        <a:p>
          <a:r>
            <a:rPr kumimoji="1" lang="en-US"/>
            <a:t>based on Chromium for headset device implementations</a:t>
          </a:r>
          <a:endParaRPr lang="en-US"/>
        </a:p>
      </dgm:t>
    </dgm:pt>
    <dgm:pt modelId="{318210CB-6462-49E4-933A-377E0B96F1CF}" type="parTrans" cxnId="{74D131A3-17EC-4C3C-98A1-F660B5A89872}">
      <dgm:prSet/>
      <dgm:spPr/>
      <dgm:t>
        <a:bodyPr/>
        <a:lstStyle/>
        <a:p>
          <a:endParaRPr lang="en-US"/>
        </a:p>
      </dgm:t>
    </dgm:pt>
    <dgm:pt modelId="{8ACCB61D-731F-40C6-A007-9BBCAC4DA3BF}" type="sibTrans" cxnId="{74D131A3-17EC-4C3C-98A1-F660B5A89872}">
      <dgm:prSet/>
      <dgm:spPr/>
      <dgm:t>
        <a:bodyPr/>
        <a:lstStyle/>
        <a:p>
          <a:endParaRPr lang="en-US"/>
        </a:p>
      </dgm:t>
    </dgm:pt>
    <dgm:pt modelId="{BB84C470-B6E1-41EC-92AA-FE9BF8C38819}" type="pres">
      <dgm:prSet presAssocID="{9212D323-6AC1-4CE6-9282-129D2FD0484F}" presName="linear" presStyleCnt="0">
        <dgm:presLayoutVars>
          <dgm:dir/>
          <dgm:animLvl val="lvl"/>
          <dgm:resizeHandles val="exact"/>
        </dgm:presLayoutVars>
      </dgm:prSet>
      <dgm:spPr/>
    </dgm:pt>
    <dgm:pt modelId="{350D79A0-F70C-4758-ACAC-575D262614ED}" type="pres">
      <dgm:prSet presAssocID="{FDDE3BB0-AC42-41EF-8D60-D0FF05F8CCC6}" presName="parentLin" presStyleCnt="0"/>
      <dgm:spPr/>
    </dgm:pt>
    <dgm:pt modelId="{D2236A72-39D8-4F14-ADAD-675815336C6C}" type="pres">
      <dgm:prSet presAssocID="{FDDE3BB0-AC42-41EF-8D60-D0FF05F8CCC6}" presName="parentLeftMargin" presStyleLbl="node1" presStyleIdx="0" presStyleCnt="2"/>
      <dgm:spPr/>
    </dgm:pt>
    <dgm:pt modelId="{5C0E6A76-3CCD-46FA-85FD-5FF3C6004112}" type="pres">
      <dgm:prSet presAssocID="{FDDE3BB0-AC42-41EF-8D60-D0FF05F8CCC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9FD04DD-EE39-4B44-BCA6-8EB1DAD6BE61}" type="pres">
      <dgm:prSet presAssocID="{FDDE3BB0-AC42-41EF-8D60-D0FF05F8CCC6}" presName="negativeSpace" presStyleCnt="0"/>
      <dgm:spPr/>
    </dgm:pt>
    <dgm:pt modelId="{B95ED8CA-E18D-4B1E-BA92-F2B43CE13488}" type="pres">
      <dgm:prSet presAssocID="{FDDE3BB0-AC42-41EF-8D60-D0FF05F8CCC6}" presName="childText" presStyleLbl="conFgAcc1" presStyleIdx="0" presStyleCnt="2">
        <dgm:presLayoutVars>
          <dgm:bulletEnabled val="1"/>
        </dgm:presLayoutVars>
      </dgm:prSet>
      <dgm:spPr/>
    </dgm:pt>
    <dgm:pt modelId="{416F82B0-2127-4AA2-AC19-31FCEEE6F1F1}" type="pres">
      <dgm:prSet presAssocID="{283A5FA7-5AE3-4D4D-B1E4-84DA7695B3BC}" presName="spaceBetweenRectangles" presStyleCnt="0"/>
      <dgm:spPr/>
    </dgm:pt>
    <dgm:pt modelId="{D289701F-A578-4BF0-819B-69AD448954F0}" type="pres">
      <dgm:prSet presAssocID="{9502A74D-A2EC-4795-9589-6BF079DC4959}" presName="parentLin" presStyleCnt="0"/>
      <dgm:spPr/>
    </dgm:pt>
    <dgm:pt modelId="{AD786BD9-0AD6-4922-84FC-BF941A912D4A}" type="pres">
      <dgm:prSet presAssocID="{9502A74D-A2EC-4795-9589-6BF079DC4959}" presName="parentLeftMargin" presStyleLbl="node1" presStyleIdx="0" presStyleCnt="2"/>
      <dgm:spPr/>
    </dgm:pt>
    <dgm:pt modelId="{F469767D-3DE5-438F-8011-D31EBE6A5FE8}" type="pres">
      <dgm:prSet presAssocID="{9502A74D-A2EC-4795-9589-6BF079DC495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AD2450-4A4D-4073-886C-4B7C0926C0AD}" type="pres">
      <dgm:prSet presAssocID="{9502A74D-A2EC-4795-9589-6BF079DC4959}" presName="negativeSpace" presStyleCnt="0"/>
      <dgm:spPr/>
    </dgm:pt>
    <dgm:pt modelId="{63321527-0752-4EFB-B15E-1730AA540B26}" type="pres">
      <dgm:prSet presAssocID="{9502A74D-A2EC-4795-9589-6BF079DC495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251C50B-E71F-4D7C-8DEC-F2B8AA1192C6}" srcId="{EC94DFBD-8460-48CE-9DFB-4E5B5614EF3E}" destId="{FB795CEA-EEE8-42F2-9DD9-85FD66A35DC0}" srcOrd="2" destOrd="0" parTransId="{24807595-B7D4-4F32-9BE5-D40283628005}" sibTransId="{88288503-CB68-4D4F-A5AA-685ACD9F6196}"/>
    <dgm:cxn modelId="{C0C1C911-92C1-434F-B9C4-5BAF09D22440}" srcId="{9502A74D-A2EC-4795-9589-6BF079DC4959}" destId="{FE9FD316-ACF0-47E2-857E-DC36E6FF36B4}" srcOrd="0" destOrd="0" parTransId="{F06F4F2E-DB02-4A27-92F7-70866C8381C6}" sibTransId="{AE32E51E-3329-4F34-8C13-BC8B7FF1B21A}"/>
    <dgm:cxn modelId="{D719CE1F-3588-4ACA-9B74-98C8E35C99DA}" srcId="{9502A74D-A2EC-4795-9589-6BF079DC4959}" destId="{4CAEC8ED-8BF1-4DE3-94A0-3FB58D59D5AD}" srcOrd="1" destOrd="0" parTransId="{63DF9654-FC13-46D2-98FE-45EE066B6766}" sibTransId="{FEF1A3FC-7C78-42E4-B012-3EFD95F1B573}"/>
    <dgm:cxn modelId="{1334A52F-7205-487A-BB36-3220EAC58861}" srcId="{9212D323-6AC1-4CE6-9282-129D2FD0484F}" destId="{9502A74D-A2EC-4795-9589-6BF079DC4959}" srcOrd="1" destOrd="0" parTransId="{9E9F9CC0-1512-4E86-96DB-D3C756BEDD08}" sibTransId="{D3E647D0-3584-47D0-B301-6D59A3B571C7}"/>
    <dgm:cxn modelId="{8C9A2933-CE0D-4C9E-9348-14DE4329C78E}" srcId="{FDDE3BB0-AC42-41EF-8D60-D0FF05F8CCC6}" destId="{D2DA04E4-9BEF-4F9C-B7CE-69DF35A2765D}" srcOrd="1" destOrd="0" parTransId="{96F06D20-4A9E-4CF3-B922-31ABE804E1FE}" sibTransId="{BBD6045E-DFC7-44EE-8305-B8A24568FCC6}"/>
    <dgm:cxn modelId="{66733F3A-397C-494A-B6E2-43C029EC43B7}" srcId="{EC94DFBD-8460-48CE-9DFB-4E5B5614EF3E}" destId="{BD2E3874-304E-4872-AF6F-EB1E00713FA1}" srcOrd="1" destOrd="0" parTransId="{FA3B44C4-59C3-4E94-A301-9E41FC96BA19}" sibTransId="{03C86705-B454-4495-88EB-757405BF7E68}"/>
    <dgm:cxn modelId="{67B63640-E269-4F80-88F3-D92F2535DA48}" type="presOf" srcId="{1A827D45-4140-4211-97F4-A452E28B9FE1}" destId="{B95ED8CA-E18D-4B1E-BA92-F2B43CE13488}" srcOrd="0" destOrd="2" presId="urn:microsoft.com/office/officeart/2005/8/layout/list1"/>
    <dgm:cxn modelId="{137F895C-7872-49F4-800E-88E3417CD598}" type="presOf" srcId="{FDDE3BB0-AC42-41EF-8D60-D0FF05F8CCC6}" destId="{D2236A72-39D8-4F14-ADAD-675815336C6C}" srcOrd="0" destOrd="0" presId="urn:microsoft.com/office/officeart/2005/8/layout/list1"/>
    <dgm:cxn modelId="{C6D1085F-EC9B-49F0-A802-7FEEDE9A43C1}" type="presOf" srcId="{9212D323-6AC1-4CE6-9282-129D2FD0484F}" destId="{BB84C470-B6E1-41EC-92AA-FE9BF8C38819}" srcOrd="0" destOrd="0" presId="urn:microsoft.com/office/officeart/2005/8/layout/list1"/>
    <dgm:cxn modelId="{CDB97861-8D84-40F0-9554-EF76E391B554}" srcId="{FDDE3BB0-AC42-41EF-8D60-D0FF05F8CCC6}" destId="{EC94DFBD-8460-48CE-9DFB-4E5B5614EF3E}" srcOrd="2" destOrd="0" parTransId="{E2C7A887-5C33-4D06-A124-9CF54D4F20CD}" sibTransId="{01BB8C27-2A2A-4C63-BC0E-555B19B251B7}"/>
    <dgm:cxn modelId="{8AE29063-0B13-4A9E-9A63-3AEDD4700441}" srcId="{FDDE3BB0-AC42-41EF-8D60-D0FF05F8CCC6}" destId="{B03FBAFD-8527-40BD-B94D-39CBEBC43537}" srcOrd="0" destOrd="0" parTransId="{225E9A22-D13B-442B-8DFD-7E28A9EB6831}" sibTransId="{4B21D157-EA1E-41FF-9DE3-22CBECC3923D}"/>
    <dgm:cxn modelId="{D57E094D-71C7-4314-B0DC-6EEE36792E35}" type="presOf" srcId="{EC94DFBD-8460-48CE-9DFB-4E5B5614EF3E}" destId="{B95ED8CA-E18D-4B1E-BA92-F2B43CE13488}" srcOrd="0" destOrd="3" presId="urn:microsoft.com/office/officeart/2005/8/layout/list1"/>
    <dgm:cxn modelId="{8B55EE6D-5160-4871-860F-BBBDF796FDA4}" type="presOf" srcId="{FE9FD316-ACF0-47E2-857E-DC36E6FF36B4}" destId="{63321527-0752-4EFB-B15E-1730AA540B26}" srcOrd="0" destOrd="0" presId="urn:microsoft.com/office/officeart/2005/8/layout/list1"/>
    <dgm:cxn modelId="{FEA64793-5AF2-47D3-BEED-2BB2DF3AF8A4}" type="presOf" srcId="{B03FBAFD-8527-40BD-B94D-39CBEBC43537}" destId="{B95ED8CA-E18D-4B1E-BA92-F2B43CE13488}" srcOrd="0" destOrd="0" presId="urn:microsoft.com/office/officeart/2005/8/layout/list1"/>
    <dgm:cxn modelId="{678663A2-DE65-469D-9883-1681DBC0845E}" type="presOf" srcId="{9502A74D-A2EC-4795-9589-6BF079DC4959}" destId="{F469767D-3DE5-438F-8011-D31EBE6A5FE8}" srcOrd="1" destOrd="0" presId="urn:microsoft.com/office/officeart/2005/8/layout/list1"/>
    <dgm:cxn modelId="{74D131A3-17EC-4C3C-98A1-F660B5A89872}" srcId="{4CAEC8ED-8BF1-4DE3-94A0-3FB58D59D5AD}" destId="{BE0F2C45-AD0E-4D5E-AED5-1D4632D3B3F1}" srcOrd="0" destOrd="0" parTransId="{318210CB-6462-49E4-933A-377E0B96F1CF}" sibTransId="{8ACCB61D-731F-40C6-A007-9BBCAC4DA3BF}"/>
    <dgm:cxn modelId="{85BF1DAA-F3E2-44DC-8404-B78C1B1D3156}" type="presOf" srcId="{FDDE3BB0-AC42-41EF-8D60-D0FF05F8CCC6}" destId="{5C0E6A76-3CCD-46FA-85FD-5FF3C6004112}" srcOrd="1" destOrd="0" presId="urn:microsoft.com/office/officeart/2005/8/layout/list1"/>
    <dgm:cxn modelId="{A5EFF5B5-17EF-425F-A73D-9A57B7302838}" srcId="{D2DA04E4-9BEF-4F9C-B7CE-69DF35A2765D}" destId="{1A827D45-4140-4211-97F4-A452E28B9FE1}" srcOrd="0" destOrd="0" parTransId="{358AAF23-B98A-471A-93C7-586717E7C395}" sibTransId="{411B8DB3-305D-4EC0-A89C-4E35336A3BFF}"/>
    <dgm:cxn modelId="{2E1D67BC-B51F-4549-AACF-B6907F827F4B}" srcId="{9212D323-6AC1-4CE6-9282-129D2FD0484F}" destId="{FDDE3BB0-AC42-41EF-8D60-D0FF05F8CCC6}" srcOrd="0" destOrd="0" parTransId="{F26F5E33-91B7-4D26-B824-F358E20B4866}" sibTransId="{283A5FA7-5AE3-4D4D-B1E4-84DA7695B3BC}"/>
    <dgm:cxn modelId="{1FC806C5-C71A-416D-9ACF-F9DABC5E457A}" srcId="{EC94DFBD-8460-48CE-9DFB-4E5B5614EF3E}" destId="{265A2749-E5A1-4685-840A-C64EC815FE03}" srcOrd="0" destOrd="0" parTransId="{C1BA026C-A07A-42F2-88F5-837B3DA16C5C}" sibTransId="{A006B202-B3C4-40C8-BEF0-E3FD49B1EF80}"/>
    <dgm:cxn modelId="{826481C7-9730-4D1A-88DD-A830BFA4394F}" type="presOf" srcId="{4CAEC8ED-8BF1-4DE3-94A0-3FB58D59D5AD}" destId="{63321527-0752-4EFB-B15E-1730AA540B26}" srcOrd="0" destOrd="1" presId="urn:microsoft.com/office/officeart/2005/8/layout/list1"/>
    <dgm:cxn modelId="{675F4CD2-079E-4D0E-9490-7029A202FF42}" type="presOf" srcId="{D2DA04E4-9BEF-4F9C-B7CE-69DF35A2765D}" destId="{B95ED8CA-E18D-4B1E-BA92-F2B43CE13488}" srcOrd="0" destOrd="1" presId="urn:microsoft.com/office/officeart/2005/8/layout/list1"/>
    <dgm:cxn modelId="{E5541BE1-7569-4310-AC76-DBAA285FD657}" type="presOf" srcId="{9502A74D-A2EC-4795-9589-6BF079DC4959}" destId="{AD786BD9-0AD6-4922-84FC-BF941A912D4A}" srcOrd="0" destOrd="0" presId="urn:microsoft.com/office/officeart/2005/8/layout/list1"/>
    <dgm:cxn modelId="{5249D9E7-CD99-4B73-A322-F87CD7057F36}" type="presOf" srcId="{BE0F2C45-AD0E-4D5E-AED5-1D4632D3B3F1}" destId="{63321527-0752-4EFB-B15E-1730AA540B26}" srcOrd="0" destOrd="2" presId="urn:microsoft.com/office/officeart/2005/8/layout/list1"/>
    <dgm:cxn modelId="{1258BEEB-D1A6-4607-82DC-27B25776F170}" type="presOf" srcId="{FB795CEA-EEE8-42F2-9DD9-85FD66A35DC0}" destId="{B95ED8CA-E18D-4B1E-BA92-F2B43CE13488}" srcOrd="0" destOrd="6" presId="urn:microsoft.com/office/officeart/2005/8/layout/list1"/>
    <dgm:cxn modelId="{73B5D4EB-A8AF-4CAE-8B59-B3571C2CF6BA}" type="presOf" srcId="{265A2749-E5A1-4685-840A-C64EC815FE03}" destId="{B95ED8CA-E18D-4B1E-BA92-F2B43CE13488}" srcOrd="0" destOrd="4" presId="urn:microsoft.com/office/officeart/2005/8/layout/list1"/>
    <dgm:cxn modelId="{7EE10DF7-BCA5-4261-8BDF-F2D07DB87D98}" type="presOf" srcId="{BD2E3874-304E-4872-AF6F-EB1E00713FA1}" destId="{B95ED8CA-E18D-4B1E-BA92-F2B43CE13488}" srcOrd="0" destOrd="5" presId="urn:microsoft.com/office/officeart/2005/8/layout/list1"/>
    <dgm:cxn modelId="{5B242E3F-8937-42AF-B472-16A92F822083}" type="presParOf" srcId="{BB84C470-B6E1-41EC-92AA-FE9BF8C38819}" destId="{350D79A0-F70C-4758-ACAC-575D262614ED}" srcOrd="0" destOrd="0" presId="urn:microsoft.com/office/officeart/2005/8/layout/list1"/>
    <dgm:cxn modelId="{324C9839-C8DF-440E-A02C-08792B870C14}" type="presParOf" srcId="{350D79A0-F70C-4758-ACAC-575D262614ED}" destId="{D2236A72-39D8-4F14-ADAD-675815336C6C}" srcOrd="0" destOrd="0" presId="urn:microsoft.com/office/officeart/2005/8/layout/list1"/>
    <dgm:cxn modelId="{21B4E246-7A56-4DB6-8505-42B924FB5E56}" type="presParOf" srcId="{350D79A0-F70C-4758-ACAC-575D262614ED}" destId="{5C0E6A76-3CCD-46FA-85FD-5FF3C6004112}" srcOrd="1" destOrd="0" presId="urn:microsoft.com/office/officeart/2005/8/layout/list1"/>
    <dgm:cxn modelId="{FA7DC009-D9CE-4590-B3B7-C084D902FEF9}" type="presParOf" srcId="{BB84C470-B6E1-41EC-92AA-FE9BF8C38819}" destId="{B9FD04DD-EE39-4B44-BCA6-8EB1DAD6BE61}" srcOrd="1" destOrd="0" presId="urn:microsoft.com/office/officeart/2005/8/layout/list1"/>
    <dgm:cxn modelId="{368EFF44-C259-46FE-AFD1-298C24312080}" type="presParOf" srcId="{BB84C470-B6E1-41EC-92AA-FE9BF8C38819}" destId="{B95ED8CA-E18D-4B1E-BA92-F2B43CE13488}" srcOrd="2" destOrd="0" presId="urn:microsoft.com/office/officeart/2005/8/layout/list1"/>
    <dgm:cxn modelId="{C7A2779E-C5DB-481D-AE30-9E311FD75019}" type="presParOf" srcId="{BB84C470-B6E1-41EC-92AA-FE9BF8C38819}" destId="{416F82B0-2127-4AA2-AC19-31FCEEE6F1F1}" srcOrd="3" destOrd="0" presId="urn:microsoft.com/office/officeart/2005/8/layout/list1"/>
    <dgm:cxn modelId="{BADEFA4C-D900-4516-9EAD-438FC324816B}" type="presParOf" srcId="{BB84C470-B6E1-41EC-92AA-FE9BF8C38819}" destId="{D289701F-A578-4BF0-819B-69AD448954F0}" srcOrd="4" destOrd="0" presId="urn:microsoft.com/office/officeart/2005/8/layout/list1"/>
    <dgm:cxn modelId="{17198C9E-903F-47B6-8BD8-D70EC9245FFA}" type="presParOf" srcId="{D289701F-A578-4BF0-819B-69AD448954F0}" destId="{AD786BD9-0AD6-4922-84FC-BF941A912D4A}" srcOrd="0" destOrd="0" presId="urn:microsoft.com/office/officeart/2005/8/layout/list1"/>
    <dgm:cxn modelId="{E64DF447-8B80-4432-9473-3A916C7579EA}" type="presParOf" srcId="{D289701F-A578-4BF0-819B-69AD448954F0}" destId="{F469767D-3DE5-438F-8011-D31EBE6A5FE8}" srcOrd="1" destOrd="0" presId="urn:microsoft.com/office/officeart/2005/8/layout/list1"/>
    <dgm:cxn modelId="{8D4DBE76-11D0-431A-B34E-A76E79D4B368}" type="presParOf" srcId="{BB84C470-B6E1-41EC-92AA-FE9BF8C38819}" destId="{53AD2450-4A4D-4073-886C-4B7C0926C0AD}" srcOrd="5" destOrd="0" presId="urn:microsoft.com/office/officeart/2005/8/layout/list1"/>
    <dgm:cxn modelId="{65E867FC-5BD4-437D-9509-270A1DEC40A0}" type="presParOf" srcId="{BB84C470-B6E1-41EC-92AA-FE9BF8C38819}" destId="{63321527-0752-4EFB-B15E-1730AA540B2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5ED8CA-E18D-4B1E-BA92-F2B43CE13488}">
      <dsp:nvSpPr>
        <dsp:cNvPr id="0" name=""/>
        <dsp:cNvSpPr/>
      </dsp:nvSpPr>
      <dsp:spPr>
        <a:xfrm>
          <a:off x="0" y="305062"/>
          <a:ext cx="10515600" cy="3159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 dirty="0"/>
            <a:t>Some update from </a:t>
          </a:r>
          <a:r>
            <a:rPr kumimoji="1" lang="en-US" sz="1700" kern="1200" dirty="0" err="1"/>
            <a:t>WebIDL</a:t>
          </a:r>
          <a:r>
            <a:rPr kumimoji="1" lang="en-US" sz="1700" kern="1200" dirty="0"/>
            <a:t> limitation or underlay system (</a:t>
          </a:r>
          <a:r>
            <a:rPr kumimoji="1" lang="en-US" sz="1700" kern="1200" dirty="0" err="1"/>
            <a:t>OpenXR</a:t>
          </a:r>
          <a:r>
            <a:rPr kumimoji="1" lang="en-US" sz="1700" kern="1200" dirty="0"/>
            <a:t> etc.)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Getting new features from generic XR (not Web), like dynamic foveation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Some goes to extension modules, with slight change into Core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 dirty="0"/>
            <a:t>No completed implementation yet, no two independent implementation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sz="1700" kern="1200" dirty="0"/>
            <a:t>Chromium</a:t>
          </a:r>
          <a:r>
            <a:rPr kumimoji="1" lang="en-US" sz="1700" kern="1200" dirty="0"/>
            <a:t> partly implemented </a:t>
          </a:r>
          <a:r>
            <a:rPr kumimoji="1" lang="en-US" sz="1700" kern="1200" dirty="0" err="1"/>
            <a:t>WebXR</a:t>
          </a:r>
          <a:r>
            <a:rPr kumimoji="1" lang="en-US" sz="1700" kern="1200" dirty="0"/>
            <a:t> Device API spec</a:t>
          </a:r>
          <a:endParaRPr lang="en-US" sz="1700" kern="1200" dirty="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Gecko, Webkit behind flag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Will continue living standard based mutuality level in Candidate Recommendation</a:t>
          </a:r>
          <a:endParaRPr lang="en-US" sz="1700" kern="1200"/>
        </a:p>
      </dsp:txBody>
      <dsp:txXfrm>
        <a:off x="0" y="305062"/>
        <a:ext cx="10515600" cy="3159450"/>
      </dsp:txXfrm>
    </dsp:sp>
    <dsp:sp modelId="{5C0E6A76-3CCD-46FA-85FD-5FF3C6004112}">
      <dsp:nvSpPr>
        <dsp:cNvPr id="0" name=""/>
        <dsp:cNvSpPr/>
      </dsp:nvSpPr>
      <dsp:spPr>
        <a:xfrm>
          <a:off x="525780" y="54142"/>
          <a:ext cx="7360920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700" b="1" kern="1200" dirty="0"/>
            <a:t>Core feature in XR has been mostly stable</a:t>
          </a:r>
          <a:endParaRPr lang="en-US" sz="1700" b="1" kern="1200" dirty="0"/>
        </a:p>
      </dsp:txBody>
      <dsp:txXfrm>
        <a:off x="550278" y="78640"/>
        <a:ext cx="7311924" cy="452844"/>
      </dsp:txXfrm>
    </dsp:sp>
    <dsp:sp modelId="{63321527-0752-4EFB-B15E-1730AA540B26}">
      <dsp:nvSpPr>
        <dsp:cNvPr id="0" name=""/>
        <dsp:cNvSpPr/>
      </dsp:nvSpPr>
      <dsp:spPr>
        <a:xfrm>
          <a:off x="0" y="3807232"/>
          <a:ext cx="10515600" cy="1472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54076" rIns="816127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Like modules of AR, Gamepads, layers</a:t>
          </a:r>
          <a:endParaRPr lang="en-US" sz="17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Aiming Recommendation by two independent implementations</a:t>
          </a:r>
          <a:endParaRPr lang="en-US" sz="1700" kern="1200"/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en-US" sz="1700" kern="1200"/>
            <a:t>based on Chromium for headset device implementations</a:t>
          </a:r>
          <a:endParaRPr lang="en-US" sz="1700" kern="1200"/>
        </a:p>
      </dsp:txBody>
      <dsp:txXfrm>
        <a:off x="0" y="3807232"/>
        <a:ext cx="10515600" cy="1472625"/>
      </dsp:txXfrm>
    </dsp:sp>
    <dsp:sp modelId="{F469767D-3DE5-438F-8011-D31EBE6A5FE8}">
      <dsp:nvSpPr>
        <dsp:cNvPr id="0" name=""/>
        <dsp:cNvSpPr/>
      </dsp:nvSpPr>
      <dsp:spPr>
        <a:xfrm>
          <a:off x="525780" y="3556312"/>
          <a:ext cx="7360920" cy="50184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700" b="1" kern="1200" dirty="0"/>
            <a:t>Some of extension modules are quite stable and implemented</a:t>
          </a:r>
          <a:endParaRPr lang="en-US" sz="1700" b="1" kern="1200" dirty="0"/>
        </a:p>
      </dsp:txBody>
      <dsp:txXfrm>
        <a:off x="550278" y="3580810"/>
        <a:ext cx="731192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6E25FF-A73F-4B6A-8F8D-84F388A4A993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927" y="4779486"/>
            <a:ext cx="543941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6347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342" y="9433107"/>
            <a:ext cx="2946347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84338-A454-48EA-956E-10A91AE1B3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3370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84338-A454-48EA-956E-10A91AE1B3C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765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884338-A454-48EA-956E-10A91AE1B3C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343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3F297A-54F9-5D1E-9FD0-1FE3E58CF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EABD6B4-1050-FDE6-0C2F-C94C697E7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4837B6-8E4B-FBC2-F5A7-1ACF1569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46667E-708F-85B2-83DF-F0A65E7DC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E8FF64-F9B6-EC21-83BE-9F31284C8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593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702874-206E-229C-77FE-C5D27C90B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07A57CB-F61E-4820-D6E6-A5B5346FE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7EAB8A-4928-0954-02F4-A5DECE3DE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5D4ADC-B133-F27E-AB46-36B021170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A72FAC-6B52-C552-3A3B-B821CB7A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434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99577A-DAAA-8743-B697-A777E822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FF684A-2AC6-1099-FAB8-91898A4FE3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572452-01AE-42D7-D266-A1DF5A988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BB12DA-89E3-9CC9-EF39-B47DB7412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EF1FE0-3FC6-AC8A-69B7-B1D24876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237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4DD839-96B3-EFA6-3269-DDC393FE7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C79CF07-926C-3369-EE1A-0B6E053DF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9CF91A-C49B-9D3C-DD8F-07DF05E20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9637EC3-E73F-3517-8E1F-F1D79295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09C7C-1EB4-C1D7-08F1-192887514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87EB0D-3C87-78F1-63B3-19D4696C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289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4BE3A8-BF2D-DF25-14CF-3BCCE691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3A375C-DC85-7D8C-CD90-051999AFA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1F61BB8-AAB0-237A-F67F-7F7DE6A2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46967F6-4641-5304-35F4-FEB672290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5C3EEC-3806-5FEC-D384-9D212CD4F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B8FE17D-B988-BFEA-10F4-25C20E5D6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ABCCAA-D473-4ED3-27D7-648AE3FD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D8F3B4-72E0-3091-E886-60B3605BC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189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3ECCC-83CC-6154-6E1C-3085518C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1BECD71-ED75-FD79-C529-8D8E1903D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2F871CC-CDFE-257B-2F5C-91BDBB263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E69E59-AB25-3309-EE06-DE133248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86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B497A6F-77E4-BC9F-BEBE-11E534DC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67764D9-178A-0A32-988D-24AA4D81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85A102-5FC7-1E4B-4A65-3BAB78275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887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CAF000-B07B-BA14-D51E-1580190C0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B3639F-E201-D3A8-238D-A531FD1A2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EC5E26-278C-8647-88F6-590A7B736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A98CBB-37B7-0876-8BF5-D7FCCC84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73D4209-B110-575E-477D-38F7215AA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FD8A99-6FFE-9444-134A-EBB8C059F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948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F6ADC4-DFBA-F573-A98C-5A841356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F14958-0ED2-62ED-C8E1-B4CB432ED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23D567-4081-7D71-832B-8E5B1C66B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035571-9023-AB04-0BB6-DC01A06D7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AA5B4E3-D9A6-1131-9EBC-73DB5C9B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45F6C3-C60D-7693-CDB8-C3380D1B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13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9FDAE1-15A4-34AD-E329-1C0C1B36B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99FA22-7DFA-5CEB-E371-FA5EF7712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8FD8D3-DA9A-6AB1-0093-1404CE2A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F3F1CD-4C96-D5B8-3C99-E088B943A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4E8653-34A9-E887-3FB1-BF07F706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7194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0D80E2-5DCF-507C-3C8F-3B567EECA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24CCF37-9863-B683-3EDA-9A51EEBCF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04B60-04BB-2350-ABCF-2D0DE83C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64ABD0-DE85-D088-FF83-EDF07B01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7829FB-C9A0-5225-2D3C-0E28751FB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828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A971FB-F5AD-3ACF-8D89-6CA5FBE9B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97DB8E-07DD-3A75-48C5-FCAC0487A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F720C72-6622-BC1A-E5F7-434285BC4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CEC2-F879-4FF6-B139-04EF2ED9885F}" type="datetimeFigureOut">
              <a:rPr kumimoji="1" lang="ja-JP" altLang="en-US" smtClean="0"/>
              <a:t>2026/8/3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FC59EA-2725-D155-2705-8E7E66264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F10C9D-BBA8-C4F8-C776-018167C01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17483-FAA2-45C3-AF85-157AEA25A8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756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w3.org/immersive-web/list_spec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etaverse-standards.org/news/press-releases/metaverse-standards-forum-introduces-sneeze-the-worlds-first-open-metaverse-browser-engin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spatial.dev/" TargetMode="External"/><Relationship Id="rId2" Type="http://schemas.openxmlformats.org/officeDocument/2006/relationships/hyperlink" Target="https://webkit.github.io/explainers/css-spatial/explain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@WebSpatia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A9C19F-D87E-0EA8-5328-FAFB7DD95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1261" y="1130178"/>
            <a:ext cx="9589477" cy="2387600"/>
          </a:xfrm>
        </p:spPr>
        <p:txBody>
          <a:bodyPr>
            <a:normAutofit fontScale="90000"/>
          </a:bodyPr>
          <a:lstStyle/>
          <a:p>
            <a:r>
              <a:rPr lang="ja-JP" altLang="ja-JP" b="1" dirty="0"/>
              <a:t>WebXR current position</a:t>
            </a:r>
            <a:br>
              <a:rPr lang="en-US" altLang="ja-JP" b="1" dirty="0"/>
            </a:br>
            <a:r>
              <a:rPr lang="ja-JP" altLang="ja-JP" b="1" dirty="0"/>
              <a:t>and beyond to </a:t>
            </a:r>
            <a:br>
              <a:rPr lang="en-US" altLang="ja-JP" b="1" dirty="0"/>
            </a:br>
            <a:r>
              <a:rPr lang="ja-JP" altLang="ja-JP" b="1" dirty="0"/>
              <a:t>the </a:t>
            </a:r>
            <a:r>
              <a:rPr lang="en-US" altLang="ja-JP" b="1" dirty="0"/>
              <a:t>R</a:t>
            </a:r>
            <a:r>
              <a:rPr lang="ja-JP" altLang="ja-JP" b="1" dirty="0"/>
              <a:t>ecommendation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145317-E45B-3ED7-0699-DBA19C28A1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en-US" altLang="ja-JP" dirty="0"/>
          </a:p>
          <a:p>
            <a:r>
              <a:rPr lang="ja-JP" altLang="ja-JP" dirty="0"/>
              <a:t>Atsushi Shimono</a:t>
            </a:r>
            <a:r>
              <a:rPr lang="en-US" altLang="ja-JP" dirty="0"/>
              <a:t> </a:t>
            </a:r>
            <a:r>
              <a:rPr lang="ja-JP" altLang="ja-JP" dirty="0"/>
              <a:t>(html5j)</a:t>
            </a:r>
            <a:endParaRPr lang="en-US" altLang="ja-JP" dirty="0"/>
          </a:p>
          <a:p>
            <a:r>
              <a:rPr kumimoji="1" lang="en-US" altLang="ja-JP" dirty="0"/>
              <a:t>SFC, Keio Universit</a:t>
            </a:r>
            <a:r>
              <a:rPr lang="en-US" altLang="ja-JP" dirty="0"/>
              <a:t>y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0645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D1026D-A804-329D-083D-5A0A74E0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 this talk...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93E3772-96AC-4F95-46A8-2BC36B7D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8908" cy="4351338"/>
          </a:xfrm>
        </p:spPr>
        <p:txBody>
          <a:bodyPr>
            <a:normAutofit fontScale="92500"/>
          </a:bodyPr>
          <a:lstStyle/>
          <a:p>
            <a:r>
              <a:rPr kumimoji="1" lang="en-US" altLang="ja-JP" sz="3200" dirty="0" err="1"/>
              <a:t>WebXR</a:t>
            </a:r>
            <a:r>
              <a:rPr kumimoji="1" lang="en-US" altLang="ja-JP" sz="3200" dirty="0"/>
              <a:t> overview</a:t>
            </a:r>
          </a:p>
          <a:p>
            <a:r>
              <a:rPr lang="en-US" altLang="ja-JP" sz="3200" dirty="0"/>
              <a:t>Recent updates on </a:t>
            </a:r>
            <a:r>
              <a:rPr lang="en-US" altLang="ja-JP" sz="3200" dirty="0" err="1"/>
              <a:t>WebXR</a:t>
            </a:r>
            <a:r>
              <a:rPr lang="en-US" altLang="ja-JP" sz="3200" dirty="0"/>
              <a:t> ecosystem and expectation</a:t>
            </a:r>
          </a:p>
          <a:p>
            <a:r>
              <a:rPr kumimoji="1" lang="en-US" altLang="ja-JP" sz="3200" dirty="0"/>
              <a:t>Emerging points</a:t>
            </a:r>
          </a:p>
          <a:p>
            <a:pPr lvl="1"/>
            <a:r>
              <a:rPr kumimoji="1" lang="en-US" altLang="ja-JP" dirty="0" err="1"/>
              <a:t>WebGPU</a:t>
            </a:r>
            <a:r>
              <a:rPr kumimoji="1" lang="en-US" altLang="ja-JP" dirty="0"/>
              <a:t> integration</a:t>
            </a:r>
          </a:p>
          <a:p>
            <a:pPr lvl="1"/>
            <a:r>
              <a:rPr lang="en-US" altLang="ja-JP" dirty="0"/>
              <a:t>Spatial context, mixed reality (physical integration), and related area</a:t>
            </a:r>
          </a:p>
          <a:p>
            <a:pPr lvl="1"/>
            <a:r>
              <a:rPr kumimoji="1" lang="en-US" altLang="ja-JP" dirty="0"/>
              <a:t>&lt;model&gt; - 3D assets as native Web element</a:t>
            </a: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sz="2400" dirty="0"/>
              <a:t>Note: this talk does not touch with client libraries such as Three.js or Unity.</a:t>
            </a:r>
          </a:p>
        </p:txBody>
      </p:sp>
    </p:spTree>
    <p:extLst>
      <p:ext uri="{BB962C8B-B14F-4D97-AF65-F5344CB8AC3E}">
        <p14:creationId xmlns:p14="http://schemas.microsoft.com/office/powerpoint/2010/main" val="4183216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BB7D9-4C9C-5100-41A7-D25F32530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What is </a:t>
            </a:r>
            <a:r>
              <a:rPr kumimoji="1" lang="en-US" altLang="ja-JP" dirty="0" err="1"/>
              <a:t>WebXR</a:t>
            </a:r>
            <a:r>
              <a:rPr kumimoji="1" lang="en-US" altLang="ja-JP" dirty="0"/>
              <a:t>?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5FE7B8-4FB5-2893-111E-22EFF127E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837985" cy="50323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ja-JP" dirty="0" err="1"/>
              <a:t>WebXR</a:t>
            </a:r>
            <a:r>
              <a:rPr kumimoji="1" lang="en-US" altLang="ja-JP" dirty="0"/>
              <a:t> </a:t>
            </a:r>
            <a:r>
              <a:rPr lang="en-US" altLang="ja-JP" dirty="0"/>
              <a:t>enables accessing XR behavior via JS API.</a:t>
            </a:r>
          </a:p>
          <a:p>
            <a:pPr marL="0" indent="0">
              <a:buNone/>
            </a:pPr>
            <a:r>
              <a:rPr kumimoji="1" lang="en-US" altLang="ja-JP" dirty="0"/>
              <a:t>Originally was </a:t>
            </a:r>
            <a:r>
              <a:rPr kumimoji="1" lang="en-US" altLang="ja-JP" dirty="0" err="1"/>
              <a:t>WebVR</a:t>
            </a:r>
            <a:r>
              <a:rPr kumimoji="1" lang="en-US" altLang="ja-JP" dirty="0"/>
              <a:t> from Mozilla, extended to AR/VR (XR).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WebXR</a:t>
            </a:r>
            <a:r>
              <a:rPr kumimoji="1" lang="en-US" altLang="ja-JP" dirty="0"/>
              <a:t> does:</a:t>
            </a:r>
          </a:p>
          <a:p>
            <a:r>
              <a:rPr kumimoji="1" lang="en-US" altLang="ja-JP" dirty="0"/>
              <a:t>Handle XR view, both HMD and flat screen (like smartphone)</a:t>
            </a:r>
          </a:p>
          <a:p>
            <a:pPr lvl="1"/>
            <a:r>
              <a:rPr kumimoji="1" lang="en-US" altLang="ja-JP" dirty="0"/>
              <a:t>Along with basic 3D transformation routines</a:t>
            </a:r>
          </a:p>
          <a:p>
            <a:r>
              <a:rPr lang="en-US" altLang="ja-JP" dirty="0"/>
              <a:t>Connect input sources</a:t>
            </a:r>
          </a:p>
          <a:p>
            <a:pPr lvl="1"/>
            <a:r>
              <a:rPr lang="en-US" altLang="ja-JP" dirty="0"/>
              <a:t>gamepad, hand input, depth sensing</a:t>
            </a:r>
          </a:p>
          <a:p>
            <a:r>
              <a:rPr lang="en-US" altLang="ja-JP" dirty="0"/>
              <a:t>Additional modules handles XR related methods</a:t>
            </a:r>
          </a:p>
          <a:p>
            <a:pPr lvl="1"/>
            <a:r>
              <a:rPr lang="en-US" altLang="ja-JP" dirty="0"/>
              <a:t>Physical representation incl. environment, objects, real world position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WebXR</a:t>
            </a:r>
            <a:r>
              <a:rPr kumimoji="1" lang="en-US" altLang="ja-JP" dirty="0"/>
              <a:t> does not:</a:t>
            </a:r>
          </a:p>
          <a:p>
            <a:r>
              <a:rPr lang="en-US" altLang="ja-JP" dirty="0"/>
              <a:t>Render 3D contents – use WebGL or </a:t>
            </a:r>
            <a:r>
              <a:rPr lang="en-US" altLang="ja-JP" dirty="0" err="1"/>
              <a:t>WebGPU</a:t>
            </a:r>
            <a:endParaRPr lang="en-US" altLang="ja-JP" dirty="0"/>
          </a:p>
          <a:p>
            <a:r>
              <a:rPr lang="en-US" altLang="ja-JP" dirty="0"/>
              <a:t>Handle cross site operation,</a:t>
            </a:r>
            <a:r>
              <a:rPr lang="ja-JP" altLang="en-US" dirty="0"/>
              <a:t> </a:t>
            </a:r>
            <a:r>
              <a:rPr lang="en-US" altLang="ja-JP" dirty="0"/>
              <a:t>like</a:t>
            </a:r>
            <a:r>
              <a:rPr lang="ja-JP" altLang="en-US" dirty="0"/>
              <a:t> </a:t>
            </a:r>
            <a:r>
              <a:rPr lang="en-US" altLang="ja-JP" dirty="0"/>
              <a:t>metaverse</a:t>
            </a:r>
            <a:r>
              <a:rPr lang="ja-JP" altLang="en-US" dirty="0"/>
              <a:t> </a:t>
            </a:r>
            <a:r>
              <a:rPr lang="en-US" altLang="ja-JP" dirty="0"/>
              <a:t>engine does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5FAC9E0-096A-AF4E-8AA7-8BAD121CC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000" y="217906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36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F178F3-04C5-C106-018A-36190BE17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WebXR</a:t>
            </a:r>
            <a:r>
              <a:rPr lang="en-US" altLang="ja-JP" dirty="0"/>
              <a:t> as Standard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485630-901C-DEE3-FD5E-52C45507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0600" cy="493468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kumimoji="1" lang="en-US" altLang="ja-JP" dirty="0" err="1"/>
              <a:t>WebXR</a:t>
            </a:r>
            <a:r>
              <a:rPr kumimoji="1" lang="en-US" altLang="ja-JP" dirty="0"/>
              <a:t> specifications are developed in the IWWG </a:t>
            </a:r>
          </a:p>
          <a:p>
            <a:pPr marL="0" indent="0">
              <a:buNone/>
            </a:pPr>
            <a:r>
              <a:rPr lang="en-US" altLang="ja-JP" dirty="0"/>
              <a:t>(Immersive Web Working Group) of W3C, with proposal based incubation at IWCG (IW Community Group).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 err="1"/>
              <a:t>WebXR</a:t>
            </a:r>
            <a:r>
              <a:rPr kumimoji="1" lang="en-US" altLang="ja-JP" dirty="0"/>
              <a:t> Device API (Core) as extendable core functionality</a:t>
            </a:r>
          </a:p>
          <a:p>
            <a:pPr lvl="1"/>
            <a:r>
              <a:rPr lang="en-US" altLang="ja-JP" dirty="0"/>
              <a:t>Handles XR device and session (w/ 3D space coordinates)</a:t>
            </a:r>
          </a:p>
          <a:p>
            <a:pPr lvl="1"/>
            <a:r>
              <a:rPr lang="en-US" altLang="ja-JP" dirty="0"/>
              <a:t>Provide base interfaces to be extended by modules</a:t>
            </a:r>
          </a:p>
          <a:p>
            <a:pPr marL="0" indent="0">
              <a:buNone/>
            </a:pPr>
            <a:r>
              <a:rPr lang="en-US" altLang="ja-JP" dirty="0" err="1"/>
              <a:t>WebXR</a:t>
            </a:r>
            <a:r>
              <a:rPr lang="en-US" altLang="ja-JP" dirty="0"/>
              <a:t> modules – to extend Core per single functionality</a:t>
            </a:r>
          </a:p>
          <a:p>
            <a:pPr lvl="1"/>
            <a:r>
              <a:rPr kumimoji="1" lang="en-US" altLang="ja-JP" dirty="0"/>
              <a:t>AR </a:t>
            </a:r>
            <a:r>
              <a:rPr lang="en-US" altLang="ja-JP" dirty="0"/>
              <a:t>module provides AR session (historical reason,,,)</a:t>
            </a:r>
          </a:p>
          <a:p>
            <a:pPr lvl="1"/>
            <a:r>
              <a:rPr kumimoji="1" lang="en-US" altLang="ja-JP" dirty="0"/>
              <a:t>Around 20 </a:t>
            </a:r>
            <a:r>
              <a:rPr lang="en-US" altLang="ja-JP" dirty="0"/>
              <a:t>modules... </a:t>
            </a:r>
            <a:r>
              <a:rPr lang="en-US" altLang="ja-JP" dirty="0">
                <a:hlinkClick r:id="rId2"/>
              </a:rPr>
              <a:t>https://www.w3.org/immersive-web/list_spec.html</a:t>
            </a:r>
            <a:endParaRPr lang="en-US" altLang="ja-JP" dirty="0"/>
          </a:p>
          <a:p>
            <a:pPr lvl="1"/>
            <a:r>
              <a:rPr kumimoji="1" lang="en-US" altLang="ja-JP" dirty="0"/>
              <a:t>Over wide variety of XR features, e.g</a:t>
            </a:r>
            <a:r>
              <a:rPr lang="en-US" altLang="ja-JP" dirty="0"/>
              <a:t>. input, lighting, object detection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ACA02EA-C442-FAA2-4970-B2726BFFCB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2431" y="217906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705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F6D4F6-681D-A366-137C-D9DD2E2E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kumimoji="1" lang="en-US" altLang="ja-JP" dirty="0"/>
              <a:t>Recent updates in </a:t>
            </a:r>
            <a:r>
              <a:rPr kumimoji="1" lang="en-US" altLang="ja-JP" dirty="0" err="1"/>
              <a:t>WebXR</a:t>
            </a:r>
            <a:r>
              <a:rPr kumimoji="1" lang="en-US" altLang="ja-JP" dirty="0"/>
              <a:t> (I)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B07D4D82-4CB0-C045-DF11-71307A17D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7041435"/>
              </p:ext>
            </p:extLst>
          </p:nvPr>
        </p:nvGraphicFramePr>
        <p:xfrm>
          <a:off x="838200" y="1414583"/>
          <a:ext cx="105156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9371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ABADD4-7D14-2B64-F326-C27960AE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Recent updates in </a:t>
            </a:r>
            <a:r>
              <a:rPr lang="en-US" altLang="ja-JP" dirty="0" err="1"/>
              <a:t>WebXR</a:t>
            </a:r>
            <a:r>
              <a:rPr lang="en-US" altLang="ja-JP" dirty="0"/>
              <a:t> (II)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390470-5D33-8FEC-9631-706EE66CB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kumimoji="1" lang="en-US" altLang="ja-JP" dirty="0"/>
              <a:t>New modules under incubation (back in next part)</a:t>
            </a:r>
          </a:p>
          <a:p>
            <a:pPr marL="0" indent="0">
              <a:buNone/>
            </a:pPr>
            <a:r>
              <a:rPr lang="en-US" altLang="ja-JP" sz="2200" dirty="0"/>
              <a:t>        And some incubations got slowed... (as usual?)</a:t>
            </a:r>
            <a:endParaRPr kumimoji="1" lang="en-US" altLang="ja-JP" sz="2200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 err="1"/>
              <a:t>WebGPU</a:t>
            </a:r>
            <a:endParaRPr lang="en-US" altLang="ja-JP" dirty="0"/>
          </a:p>
          <a:p>
            <a:pPr lvl="1"/>
            <a:r>
              <a:rPr kumimoji="1" lang="en-US" altLang="ja-JP" dirty="0"/>
              <a:t>Addition to </a:t>
            </a:r>
            <a:r>
              <a:rPr lang="ja-JP" altLang="ja-JP" dirty="0"/>
              <a:t>XRWebGLLayer</a:t>
            </a:r>
            <a:r>
              <a:rPr lang="en-US" altLang="ja-JP" dirty="0"/>
              <a:t>, </a:t>
            </a:r>
            <a:r>
              <a:rPr lang="en-US" altLang="ja-JP" dirty="0" err="1"/>
              <a:t>WebGPU</a:t>
            </a:r>
            <a:r>
              <a:rPr lang="en-US" altLang="ja-JP" dirty="0"/>
              <a:t> integration is under development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Physical integration, Real world geometry</a:t>
            </a:r>
          </a:p>
          <a:p>
            <a:pPr lvl="1"/>
            <a:r>
              <a:rPr lang="en-US" altLang="ja-JP" dirty="0"/>
              <a:t>The same as XR space, so-called metaverse is getting emerging topic</a:t>
            </a:r>
          </a:p>
          <a:p>
            <a:pPr lvl="1"/>
            <a:r>
              <a:rPr kumimoji="1" lang="en-US" altLang="ja-JP" dirty="0"/>
              <a:t>Plane Detection module graduated from incubation</a:t>
            </a:r>
          </a:p>
          <a:p>
            <a:pPr lvl="1"/>
            <a:r>
              <a:rPr lang="en-US" altLang="ja-JP" dirty="0"/>
              <a:t>MSF/OMBI announced metaverse browser engine in this area</a:t>
            </a:r>
          </a:p>
          <a:p>
            <a:pPr lvl="2"/>
            <a:r>
              <a:rPr lang="en-US" altLang="ja-JP" dirty="0">
                <a:hlinkClick r:id="rId2"/>
              </a:rPr>
              <a:t>https://metaverse-standards.org/news/press-releases/metaverse-standards-forum-introduces-sneeze-the-worlds-first-open-metaverse-browser-engine/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3D assets as first citizen in the Web</a:t>
            </a:r>
          </a:p>
          <a:p>
            <a:pPr lvl="1"/>
            <a:r>
              <a:rPr lang="en-US" altLang="ja-JP" dirty="0"/>
              <a:t>&lt;model&gt; element and CSS spatial module proposals</a:t>
            </a:r>
          </a:p>
          <a:p>
            <a:pPr lvl="1"/>
            <a:r>
              <a:rPr lang="en-US" altLang="ja-JP" dirty="0"/>
              <a:t>Web Spatial to extend surface (2D plane) to real materials</a:t>
            </a:r>
          </a:p>
          <a:p>
            <a:pPr lvl="1"/>
            <a:r>
              <a:rPr lang="en-US" altLang="ja-JP" dirty="0"/>
              <a:t>HTML-in-Canvas as DOM Layers</a:t>
            </a:r>
          </a:p>
        </p:txBody>
      </p:sp>
    </p:spTree>
    <p:extLst>
      <p:ext uri="{BB962C8B-B14F-4D97-AF65-F5344CB8AC3E}">
        <p14:creationId xmlns:p14="http://schemas.microsoft.com/office/powerpoint/2010/main" val="2782776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6C70CD-A403-2604-9F63-967B25C3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Emerging points within </a:t>
            </a:r>
            <a:r>
              <a:rPr kumimoji="1" lang="en-US" altLang="ja-JP" dirty="0" err="1"/>
              <a:t>WebXR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77512C-F606-08FD-548E-C4BA1267F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407504"/>
            <a:ext cx="10986477" cy="334108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kumimoji="1" lang="en-US" altLang="ja-JP" dirty="0"/>
              <a:t>In </a:t>
            </a:r>
            <a:r>
              <a:rPr kumimoji="1" lang="en-US" altLang="ja-JP" dirty="0" err="1"/>
              <a:t>WebXR</a:t>
            </a:r>
            <a:r>
              <a:rPr lang="en-US" altLang="ja-JP" dirty="0"/>
              <a:t> area, many modules have been proposed and incubated following them, as listed in recent updates. Jumping into them with picking up following three points.</a:t>
            </a:r>
          </a:p>
          <a:p>
            <a:pPr marL="0" indent="0">
              <a:buNone/>
            </a:pPr>
            <a:endParaRPr kumimoji="1" lang="en-US" altLang="ja-JP" dirty="0"/>
          </a:p>
          <a:p>
            <a:r>
              <a:rPr kumimoji="1" lang="en-US" altLang="ja-JP" dirty="0" err="1"/>
              <a:t>WebGPU</a:t>
            </a:r>
            <a:r>
              <a:rPr kumimoji="1" lang="en-US" altLang="ja-JP" dirty="0"/>
              <a:t> in addition to WebGL backend for 3D rendering</a:t>
            </a:r>
          </a:p>
          <a:p>
            <a:r>
              <a:rPr kumimoji="1" lang="en-US" altLang="ja-JP" dirty="0"/>
              <a:t>Spatial context handling</a:t>
            </a:r>
          </a:p>
          <a:p>
            <a:r>
              <a:rPr lang="en-US" altLang="ja-JP" dirty="0"/>
              <a:t>&lt;model&gt; element proposal to HTML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6C05FF-F296-FBAE-9161-55A4CCAD00F0}"/>
              </a:ext>
            </a:extLst>
          </p:cNvPr>
          <p:cNvSpPr txBox="1"/>
          <p:nvPr/>
        </p:nvSpPr>
        <p:spPr>
          <a:xfrm>
            <a:off x="838200" y="1528895"/>
            <a:ext cx="9149862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en-US" altLang="ja-JP" sz="2600" dirty="0"/>
              <a:t>After while from XR (and mixed reality) introduced to the World </a:t>
            </a:r>
            <a:r>
              <a:rPr lang="en-US" altLang="ja-JP" sz="2600" dirty="0"/>
              <a:t>and the Web, bunch of evolution happened over hardware and services, and new emerging requirements have been introduced.</a:t>
            </a:r>
          </a:p>
        </p:txBody>
      </p:sp>
    </p:spTree>
    <p:extLst>
      <p:ext uri="{BB962C8B-B14F-4D97-AF65-F5344CB8AC3E}">
        <p14:creationId xmlns:p14="http://schemas.microsoft.com/office/powerpoint/2010/main" val="3775950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DBE884-BE2A-0B91-552C-D361003E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WebGPU</a:t>
            </a:r>
            <a:r>
              <a:rPr kumimoji="1" lang="en-US" altLang="ja-JP" dirty="0"/>
              <a:t> - </a:t>
            </a:r>
            <a:r>
              <a:rPr kumimoji="1" lang="en-US" altLang="ja-JP" dirty="0" err="1"/>
              <a:t>XRGPUBinding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465D93-CA4D-A3E9-3C44-7A75DCC9B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25554" cy="490342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ja-JP" dirty="0"/>
              <a:t>WebGL was used for 3D rendering from the initial. </a:t>
            </a:r>
          </a:p>
          <a:p>
            <a:pPr marL="0" indent="0">
              <a:buNone/>
            </a:pPr>
            <a:r>
              <a:rPr kumimoji="1" lang="en-US" altLang="ja-JP" dirty="0" err="1"/>
              <a:t>WebGPU</a:t>
            </a:r>
            <a:r>
              <a:rPr kumimoji="1" lang="en-US" altLang="ja-JP" dirty="0"/>
              <a:t> started ~2019, to enable Web directly interface to GPU, and </a:t>
            </a:r>
            <a:r>
              <a:rPr kumimoji="1" lang="en-US" altLang="ja-JP" dirty="0" err="1"/>
              <a:t>WebXR</a:t>
            </a:r>
            <a:r>
              <a:rPr kumimoji="1" lang="en-US" altLang="ja-JP" dirty="0"/>
              <a:t> desired to have. </a:t>
            </a:r>
            <a:r>
              <a:rPr lang="en-US" altLang="ja-JP" dirty="0"/>
              <a:t>After incubation and investigation over potential options, following scheme is now taken:</a:t>
            </a:r>
          </a:p>
          <a:p>
            <a:pPr marL="0" indent="0">
              <a:buNone/>
            </a:pPr>
            <a:endParaRPr kumimoji="1" lang="en-US" altLang="ja-JP" dirty="0"/>
          </a:p>
          <a:p>
            <a:r>
              <a:rPr lang="en-US" altLang="ja-JP" dirty="0"/>
              <a:t>Add new </a:t>
            </a:r>
            <a:r>
              <a:rPr lang="en-US" altLang="ja-JP" dirty="0" err="1"/>
              <a:t>XRGPUBinding</a:t>
            </a:r>
            <a:r>
              <a:rPr lang="en-US" altLang="ja-JP" dirty="0"/>
              <a:t> interface</a:t>
            </a:r>
          </a:p>
          <a:p>
            <a:pPr lvl="1"/>
            <a:r>
              <a:rPr lang="en-US" altLang="ja-JP" dirty="0"/>
              <a:t>in parallel to </a:t>
            </a:r>
            <a:r>
              <a:rPr lang="en-US" altLang="ja-JP" dirty="0" err="1"/>
              <a:t>XRWebGLBinding</a:t>
            </a:r>
            <a:r>
              <a:rPr lang="en-US" altLang="ja-JP" dirty="0"/>
              <a:t>, but not exchangeable (nor switchable)</a:t>
            </a:r>
          </a:p>
          <a:p>
            <a:r>
              <a:rPr lang="en-US" altLang="ja-JP" dirty="0" err="1"/>
              <a:t>SubImage</a:t>
            </a:r>
            <a:r>
              <a:rPr lang="en-US" altLang="ja-JP" dirty="0"/>
              <a:t> and Layers have additional interface for </a:t>
            </a:r>
            <a:r>
              <a:rPr lang="en-US" altLang="ja-JP" dirty="0" err="1"/>
              <a:t>WebGPU</a:t>
            </a:r>
            <a:endParaRPr lang="en-US" altLang="ja-JP" dirty="0"/>
          </a:p>
          <a:p>
            <a:pPr lvl="1"/>
            <a:r>
              <a:rPr lang="en-US" altLang="ja-JP" dirty="0"/>
              <a:t>still under some investigation, and not yet fixed</a:t>
            </a:r>
          </a:p>
          <a:p>
            <a:pPr lvl="1"/>
            <a:r>
              <a:rPr lang="en-US" altLang="ja-JP" dirty="0" err="1"/>
              <a:t>createProjectionLayer</a:t>
            </a:r>
            <a:r>
              <a:rPr lang="en-US" altLang="ja-JP" dirty="0"/>
              <a:t> returns normal </a:t>
            </a:r>
            <a:r>
              <a:rPr lang="en-US" altLang="ja-JP" dirty="0" err="1"/>
              <a:t>XRProjectionLayer</a:t>
            </a:r>
            <a:r>
              <a:rPr lang="en-US" altLang="ja-JP" dirty="0"/>
              <a:t>, but within </a:t>
            </a:r>
            <a:r>
              <a:rPr lang="en-US" altLang="ja-JP" dirty="0" err="1"/>
              <a:t>WebGPU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16881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B7D038-48A6-BF3D-C65E-1A98BB30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Spatial context handling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22387C7-94D1-A612-633D-0D73E821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88938" cy="1980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ja-JP" sz="2600" dirty="0"/>
              <a:t>Several modules have been incubated and implemented to dealt with real world using </a:t>
            </a:r>
            <a:r>
              <a:rPr kumimoji="1" lang="en-US" altLang="ja-JP" sz="2600" dirty="0" err="1"/>
              <a:t>WebXR</a:t>
            </a:r>
            <a:r>
              <a:rPr kumimoji="1" lang="en-US" altLang="ja-JP" sz="2600" dirty="0"/>
              <a:t>. In addition to basic function like distance to physical objects in AR or ray casting, anchoring objects in 3D or relation to geolocation are in target, and still evolves.</a:t>
            </a:r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F0DCBA7-29BF-310A-D3D1-86E028EA076A}"/>
              </a:ext>
            </a:extLst>
          </p:cNvPr>
          <p:cNvSpPr txBox="1">
            <a:spLocks/>
          </p:cNvSpPr>
          <p:nvPr/>
        </p:nvSpPr>
        <p:spPr>
          <a:xfrm>
            <a:off x="838200" y="3868615"/>
            <a:ext cx="11197492" cy="28838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 err="1"/>
              <a:t>WebXR</a:t>
            </a:r>
            <a:r>
              <a:rPr lang="ja-JP" altLang="en-US" dirty="0"/>
              <a:t> </a:t>
            </a:r>
            <a:r>
              <a:rPr lang="en-US" altLang="ja-JP" dirty="0"/>
              <a:t>Anchors: anchors tracked by underlying system</a:t>
            </a:r>
          </a:p>
          <a:p>
            <a:pPr lvl="1"/>
            <a:r>
              <a:rPr lang="en-US" altLang="ja-JP" dirty="0"/>
              <a:t>6DoF anchor point tracked by UUID</a:t>
            </a:r>
          </a:p>
          <a:p>
            <a:pPr lvl="1"/>
            <a:r>
              <a:rPr lang="en-US" altLang="ja-JP" dirty="0"/>
              <a:t>Persistent anchors between sessions are postponed to module Lv2</a:t>
            </a:r>
          </a:p>
          <a:p>
            <a:r>
              <a:rPr lang="en-US" altLang="ja-JP" dirty="0" err="1"/>
              <a:t>WebXR</a:t>
            </a:r>
            <a:r>
              <a:rPr lang="en-US" altLang="ja-JP" dirty="0"/>
              <a:t> Plane Detection: flat surfaces detected by XR system</a:t>
            </a:r>
          </a:p>
          <a:p>
            <a:pPr lvl="1"/>
            <a:r>
              <a:rPr lang="en-US" altLang="ja-JP" dirty="0"/>
              <a:t>Tracking planes and room capture, from native XR system</a:t>
            </a:r>
          </a:p>
          <a:p>
            <a:pPr lvl="1"/>
            <a:r>
              <a:rPr lang="en-US" altLang="ja-JP" dirty="0"/>
              <a:t>For advance, mesh detection is under incubation</a:t>
            </a:r>
          </a:p>
          <a:p>
            <a:r>
              <a:rPr lang="en-US" altLang="ja-JP" dirty="0"/>
              <a:t>Marker tracking: detect and handle markers in real world (e.g. QR)</a:t>
            </a:r>
          </a:p>
          <a:p>
            <a:r>
              <a:rPr lang="en-US" altLang="ja-JP" dirty="0"/>
              <a:t>Geo Alignment: 6DoF geospatial orientation</a:t>
            </a:r>
          </a:p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250801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A94D2C-692B-19E2-5165-15B3236A4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979508" cy="586154"/>
          </a:xfrm>
        </p:spPr>
        <p:txBody>
          <a:bodyPr>
            <a:normAutofit/>
          </a:bodyPr>
          <a:lstStyle/>
          <a:p>
            <a:r>
              <a:rPr kumimoji="1" lang="en-US" altLang="ja-JP" sz="2000" dirty="0"/>
              <a:t>In relation to,,</a:t>
            </a:r>
            <a:endParaRPr kumimoji="1" lang="ja-JP" altLang="en-US" sz="20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2F60380-7481-067A-AC43-1B69FD680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403" y="0"/>
            <a:ext cx="962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89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7CFFDB-E7BE-322D-9AE6-8E16043B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&lt;model&gt; element proposal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5228D6-1A1D-0CA9-9B66-33D4AC014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2641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3D asset files are handled in JS of website using </a:t>
            </a:r>
            <a:r>
              <a:rPr lang="en-US" altLang="ja-JP" dirty="0" err="1"/>
              <a:t>WebXR</a:t>
            </a:r>
            <a:r>
              <a:rPr lang="en-US" altLang="ja-JP" dirty="0"/>
              <a:t>, request to handle these natively in the Web emerged, even without </a:t>
            </a:r>
            <a:r>
              <a:rPr lang="en-US" altLang="ja-JP" dirty="0" err="1"/>
              <a:t>WebXR</a:t>
            </a:r>
            <a:r>
              <a:rPr lang="en-US" altLang="ja-JP" dirty="0"/>
              <a:t> session.</a:t>
            </a:r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70A9891-D650-0C6C-A980-FCE22F1674FF}"/>
              </a:ext>
            </a:extLst>
          </p:cNvPr>
          <p:cNvSpPr txBox="1">
            <a:spLocks/>
          </p:cNvSpPr>
          <p:nvPr/>
        </p:nvSpPr>
        <p:spPr>
          <a:xfrm>
            <a:off x="838200" y="3158148"/>
            <a:ext cx="10515600" cy="3602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Conversation held since 2019 to bring 3D assets as native media file in the Web, a new HTML element &lt;model&gt; has been proposed and incubated (partly implemented like in Apple Vision Pro).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Initial idea is to add in parallel to &lt;</a:t>
            </a:r>
            <a:r>
              <a:rPr lang="en-US" altLang="ja-JP" dirty="0" err="1"/>
              <a:t>img</a:t>
            </a:r>
            <a:r>
              <a:rPr lang="en-US" altLang="ja-JP" dirty="0"/>
              <a:t>&gt; or &lt;video&gt;, with a11y consideration incl. fallback to 2D image, but extended to:</a:t>
            </a:r>
          </a:p>
          <a:p>
            <a:r>
              <a:rPr lang="en-US" altLang="ja-JP" dirty="0"/>
              <a:t>CSS integration with </a:t>
            </a:r>
            <a:r>
              <a:rPr lang="en-US" altLang="ja-JP" dirty="0" err="1"/>
              <a:t>fullscreen</a:t>
            </a:r>
            <a:r>
              <a:rPr lang="en-US" altLang="ja-JP" dirty="0"/>
              <a:t> capable</a:t>
            </a:r>
          </a:p>
          <a:p>
            <a:r>
              <a:rPr lang="en-US" altLang="ja-JP" dirty="0"/>
              <a:t>Interaction using JS or attribute</a:t>
            </a:r>
          </a:p>
          <a:p>
            <a:r>
              <a:rPr lang="en-US" altLang="ja-JP" dirty="0"/>
              <a:t>Additional features, like autoplay/playback, environment maps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5984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CAD01-35FC-99F4-F6F1-493120AD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In addition for Web ecosystem...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F2B72B-ED69-563B-C208-CC8478996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18600" cy="105043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In parallel to &lt;model&gt; elemen</a:t>
            </a:r>
            <a:r>
              <a:rPr lang="en-US" altLang="ja-JP" dirty="0"/>
              <a:t>t, penetrating into the Core Web for immersive related presentations.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49307BAC-9DBE-5E40-8A20-F560668D09D1}"/>
              </a:ext>
            </a:extLst>
          </p:cNvPr>
          <p:cNvSpPr txBox="1">
            <a:spLocks/>
          </p:cNvSpPr>
          <p:nvPr/>
        </p:nvSpPr>
        <p:spPr>
          <a:xfrm>
            <a:off x="838200" y="2806456"/>
            <a:ext cx="10515600" cy="387569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dirty="0"/>
              <a:t>The Web handled 2D assets, but </a:t>
            </a:r>
            <a:r>
              <a:rPr lang="en-US" altLang="ja-JP" dirty="0" err="1"/>
              <a:t>WebXR</a:t>
            </a:r>
            <a:r>
              <a:rPr lang="en-US" altLang="ja-JP" dirty="0"/>
              <a:t> and &lt;model&gt; tries to introduce 3D real world into there. Some incubations to extend 2D Web are undergo, such as</a:t>
            </a:r>
          </a:p>
          <a:p>
            <a:r>
              <a:rPr lang="en-US" altLang="ja-JP" dirty="0"/>
              <a:t>CSS Spatial Layout </a:t>
            </a:r>
            <a:r>
              <a:rPr lang="en-US" altLang="ja-JP" dirty="0">
                <a:hlinkClick r:id="rId2"/>
              </a:rPr>
              <a:t>https://webkit.github.io/explainers/css-spatial/explainer.html</a:t>
            </a:r>
            <a:endParaRPr lang="en-US" altLang="ja-JP" dirty="0"/>
          </a:p>
          <a:p>
            <a:pPr lvl="1"/>
            <a:r>
              <a:rPr lang="en-US" altLang="ja-JP" dirty="0"/>
              <a:t>Introduces 3D position into CSS with adding z-axis, instead of z-index</a:t>
            </a:r>
          </a:p>
          <a:p>
            <a:pPr lvl="1"/>
            <a:r>
              <a:rPr lang="en-US" altLang="ja-JP" dirty="0"/>
              <a:t>For full portals into 3D worlds, all expressed in declarative CSS</a:t>
            </a:r>
          </a:p>
          <a:p>
            <a:r>
              <a:rPr lang="en-US" altLang="ja-JP" dirty="0" err="1"/>
              <a:t>WebSpatial</a:t>
            </a:r>
            <a:r>
              <a:rPr lang="en-US" altLang="ja-JP" dirty="0"/>
              <a:t> </a:t>
            </a:r>
            <a:r>
              <a:rPr lang="en-US" altLang="ja-JP" dirty="0">
                <a:hlinkClick r:id="rId3"/>
              </a:rPr>
              <a:t>https://webspatial.dev/</a:t>
            </a:r>
            <a:endParaRPr lang="en-US" altLang="ja-JP" dirty="0"/>
          </a:p>
          <a:p>
            <a:pPr lvl="1"/>
            <a:r>
              <a:rPr lang="en-US" altLang="ja-JP" dirty="0"/>
              <a:t>Spatial context over HTML elements</a:t>
            </a:r>
          </a:p>
          <a:p>
            <a:pPr lvl="1"/>
            <a:r>
              <a:rPr lang="en-US" altLang="ja-JP" dirty="0">
                <a:hlinkClick r:id="rId4"/>
              </a:rPr>
              <a:t>https://www.youtube.com/@WebSpatial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9753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 descr="A parallax scene composed from three image layers inside a portal">
            <a:extLst>
              <a:ext uri="{FF2B5EF4-FFF2-40B4-BE49-F238E27FC236}">
                <a16:creationId xmlns:a16="http://schemas.microsoft.com/office/drawing/2014/main" id="{000962DB-6557-C3D6-EC54-207A1918E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5258" y="852853"/>
            <a:ext cx="5426838" cy="5152293"/>
          </a:xfrm>
          <a:prstGeom prst="rect">
            <a:avLst/>
          </a:prstGeom>
        </p:spPr>
      </p:pic>
      <p:pic>
        <p:nvPicPr>
          <p:cNvPr id="6" name="グラフィックス 5" descr="A product card rotated 45 degrees inside a portal, it has been moved back into the portal.">
            <a:extLst>
              <a:ext uri="{FF2B5EF4-FFF2-40B4-BE49-F238E27FC236}">
                <a16:creationId xmlns:a16="http://schemas.microsoft.com/office/drawing/2014/main" id="{1B006E6E-F841-5B48-199A-09C300E4A1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9906" y="933449"/>
            <a:ext cx="3600450" cy="4991100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00163F1C-F573-36B0-481C-D40755A1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1587"/>
            <a:ext cx="10515600" cy="1325563"/>
          </a:xfrm>
        </p:spPr>
        <p:txBody>
          <a:bodyPr/>
          <a:lstStyle/>
          <a:p>
            <a:r>
              <a:rPr lang="en-US" altLang="ja-JP" dirty="0"/>
              <a:t>CSS Spatial Layout module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1304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33BAAD10-E99A-9B92-7F6C-7F361FD83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000" y="2538000"/>
            <a:ext cx="4320000" cy="4320000"/>
          </a:xfrm>
          <a:prstGeom prst="rect">
            <a:avLst/>
          </a:prstGeom>
        </p:spPr>
      </p:pic>
      <p:sp>
        <p:nvSpPr>
          <p:cNvPr id="4" name="タイトル 3">
            <a:extLst>
              <a:ext uri="{FF2B5EF4-FFF2-40B4-BE49-F238E27FC236}">
                <a16:creationId xmlns:a16="http://schemas.microsoft.com/office/drawing/2014/main" id="{8EE62867-2F1F-738C-2C7D-514D7ABE5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11631"/>
            <a:ext cx="10515600" cy="2852737"/>
          </a:xfrm>
        </p:spPr>
        <p:txBody>
          <a:bodyPr/>
          <a:lstStyle/>
          <a:p>
            <a:r>
              <a:rPr lang="en-US" altLang="ja-JP" dirty="0"/>
              <a:t>Questions?</a:t>
            </a:r>
            <a:endParaRPr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7A804B8-D9A6-6DA2-F79F-1C12F23B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7389935" cy="1500187"/>
          </a:xfrm>
        </p:spPr>
        <p:txBody>
          <a:bodyPr/>
          <a:lstStyle/>
          <a:p>
            <a:r>
              <a:rPr lang="en-US" altLang="ja-JP" dirty="0">
                <a:solidFill>
                  <a:schemeClr val="tx1"/>
                </a:solidFill>
              </a:rPr>
              <a:t>Contact information are available via QR code</a:t>
            </a:r>
          </a:p>
          <a:p>
            <a:r>
              <a:rPr lang="en-US" altLang="ja-JP" dirty="0">
                <a:solidFill>
                  <a:schemeClr val="tx1"/>
                </a:solidFill>
              </a:rPr>
              <a:t>Talk will be available on my YouTube as archive</a:t>
            </a:r>
            <a:endParaRPr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7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D">
      <a:majorFont>
        <a:latin typeface="UD デジタル 教科書体 NK-R"/>
        <a:ea typeface="UD デジタル 教科書体 N"/>
        <a:cs typeface=""/>
      </a:majorFont>
      <a:minorFont>
        <a:latin typeface="UD デジタル 教科書体 NK-R"/>
        <a:ea typeface="UD デジタル 教科書体 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1922</TotalTime>
  <Words>1080</Words>
  <Application>Microsoft Office PowerPoint</Application>
  <PresentationFormat>ワイド画面</PresentationFormat>
  <Paragraphs>116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UD デジタル 教科書体 NK-R</vt:lpstr>
      <vt:lpstr>游ゴシック</vt:lpstr>
      <vt:lpstr>Arial</vt:lpstr>
      <vt:lpstr>Office テーマ</vt:lpstr>
      <vt:lpstr>WebXR current position and beyond to  the Recommendation</vt:lpstr>
      <vt:lpstr>In this talk...</vt:lpstr>
      <vt:lpstr>What is WebXR?</vt:lpstr>
      <vt:lpstr>WebXR as Standard</vt:lpstr>
      <vt:lpstr>Recent updates in WebXR (I)</vt:lpstr>
      <vt:lpstr>Recent updates in WebXR (II)</vt:lpstr>
      <vt:lpstr>Emerging points within WebXR</vt:lpstr>
      <vt:lpstr>WebGPU - XRGPUBinding</vt:lpstr>
      <vt:lpstr>Spatial context handling</vt:lpstr>
      <vt:lpstr>In relation to,,</vt:lpstr>
      <vt:lpstr>&lt;model&gt; element proposal</vt:lpstr>
      <vt:lpstr>In addition for Web ecosystem...</vt:lpstr>
      <vt:lpstr>CSS Spatial Layout module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Atsushi Shimono</dc:creator>
  <cp:lastModifiedBy>Atsushi Shimono</cp:lastModifiedBy>
  <cp:revision>14</cp:revision>
  <cp:lastPrinted>2026-07-28T10:40:17Z</cp:lastPrinted>
  <dcterms:created xsi:type="dcterms:W3CDTF">2026-07-27T08:36:04Z</dcterms:created>
  <dcterms:modified xsi:type="dcterms:W3CDTF">2026-08-02T17:49:13Z</dcterms:modified>
</cp:coreProperties>
</file>
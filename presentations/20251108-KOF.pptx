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58" r:id="rId6"/>
    <p:sldId id="264" r:id="rId7"/>
    <p:sldId id="267" r:id="rId8"/>
    <p:sldId id="260" r:id="rId9"/>
    <p:sldId id="268" r:id="rId10"/>
    <p:sldId id="270" r:id="rId11"/>
    <p:sldId id="263" r:id="rId12"/>
    <p:sldId id="262" r:id="rId13"/>
    <p:sldId id="269" r:id="rId14"/>
    <p:sldId id="265" r:id="rId15"/>
    <p:sldId id="266" r:id="rId16"/>
  </p:sldIdLst>
  <p:sldSz cx="12192000" cy="6858000"/>
  <p:notesSz cx="6799263" cy="99314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1" autoAdjust="0"/>
    <p:restoredTop sz="94660"/>
  </p:normalViewPr>
  <p:slideViewPr>
    <p:cSldViewPr snapToGrid="0">
      <p:cViewPr varScale="1">
        <p:scale>
          <a:sx n="103" d="100"/>
          <a:sy n="103" d="100"/>
        </p:scale>
        <p:origin x="115"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2BCDF6-C109-70C2-B7B5-40EF7565516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202F497-A367-2E82-0C53-EFF6AF0929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B561CAE-0C1E-ADCB-5AC9-97B87B5EF89B}"/>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1A4FF399-2377-9E53-7768-71B9A3F1321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932C229-A645-1738-A765-FB8194B0F504}"/>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410565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C4DCD1-16FA-4BBF-F3E5-D6827D45EA7C}"/>
              </a:ext>
            </a:extLst>
          </p:cNvPr>
          <p:cNvSpPr>
            <a:spLocks noGrp="1"/>
          </p:cNvSpPr>
          <p:nvPr>
            <p:ph type="title"/>
          </p:nvPr>
        </p:nvSpPr>
        <p:spPr/>
        <p:txBody>
          <a:bodyPr/>
          <a:lstStyle>
            <a:lvl1pPr>
              <a:defRPr>
                <a:latin typeface="+mj-ea"/>
                <a:ea typeface="+mj-ea"/>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5898DBB8-F88E-2989-430E-D1C79044D7A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E7D9F5A-0CF4-B2ED-4CB9-7C97794582E8}"/>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7D253973-179F-BF8D-4135-7BBD590A7F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4F9728-741F-8BFA-5691-87EC9F2C8805}"/>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3508772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4C7CB6-5C29-FD4E-A54C-63273982FC3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5140D62-1489-583D-2F24-5FD3783C75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3CA4A62-9DD4-A7C6-FC85-1EDC35BE6D5D}"/>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864EF108-65D2-13AA-61F1-41EE055B14D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CEE044-23DD-9373-6A5C-AC426063E3B1}"/>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1914138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F8D3C7-3EBF-DBD3-1C5D-247B09A2DE7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07A56E-0951-4BA0-4F6E-4E3BB145D03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0B5AFE4-E040-2FDA-EA79-5067BED1D5A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ACD2B7D-7C5D-B70E-DB16-5A1E32069143}"/>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6" name="フッター プレースホルダー 5">
            <a:extLst>
              <a:ext uri="{FF2B5EF4-FFF2-40B4-BE49-F238E27FC236}">
                <a16:creationId xmlns:a16="http://schemas.microsoft.com/office/drawing/2014/main" id="{C6A12875-9011-23A5-17A0-9546BFFD380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98010B-65ED-3B07-05DB-4FCB3707DB25}"/>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1147835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C264C0-A05D-23EA-4465-4FF15FFCA23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4BC2A26-BE95-BFD9-8CCC-4D23EB6F78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6B02DE4-6EFC-FBD7-FEE6-0672BCAC0FE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4F33C20-9E15-7F53-4E35-A934F54157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CA6F183-EE59-312C-F941-65A5A9C9280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6D4B006-7064-0BFC-9F70-A24596746577}"/>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8" name="フッター プレースホルダー 7">
            <a:extLst>
              <a:ext uri="{FF2B5EF4-FFF2-40B4-BE49-F238E27FC236}">
                <a16:creationId xmlns:a16="http://schemas.microsoft.com/office/drawing/2014/main" id="{4B5F2B3D-E3A2-01F6-F7F1-23EC7E49422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574A54E-C1E2-96E3-0DB0-B99CFF848490}"/>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3336549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875396-9974-57E9-C222-EA35D77B6DC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ED46F05-821E-2814-ADB5-C82288A3FA52}"/>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4" name="フッター プレースホルダー 3">
            <a:extLst>
              <a:ext uri="{FF2B5EF4-FFF2-40B4-BE49-F238E27FC236}">
                <a16:creationId xmlns:a16="http://schemas.microsoft.com/office/drawing/2014/main" id="{DD0D3C82-B59B-7022-257F-31659F04B89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9BBB99E-C6CA-D788-452D-C96E2D2838D5}"/>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423666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7AE6ACA-D7D9-0A47-148D-A06F0B747C42}"/>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3" name="フッター プレースホルダー 2">
            <a:extLst>
              <a:ext uri="{FF2B5EF4-FFF2-40B4-BE49-F238E27FC236}">
                <a16:creationId xmlns:a16="http://schemas.microsoft.com/office/drawing/2014/main" id="{EE68B8FF-4155-845E-9820-1AFA810BB6A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CA315CF-581D-110A-996C-86E5CCD3F42B}"/>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3609045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B45FC6-D6C0-D6FB-F3F2-021402300D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19A630A-EB4A-CAE5-BFED-628CA311B0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836E677-8FFD-67E1-5F97-DFC68DE21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AD89DE4-8AED-E469-1BFB-42FEB877CD0C}"/>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6" name="フッター プレースホルダー 5">
            <a:extLst>
              <a:ext uri="{FF2B5EF4-FFF2-40B4-BE49-F238E27FC236}">
                <a16:creationId xmlns:a16="http://schemas.microsoft.com/office/drawing/2014/main" id="{228B2D9C-3E27-942F-2999-A55067D3F9D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3CBD865-7B7A-CB54-13A1-AA20B87B2949}"/>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1952531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0144DB-F2F5-1DF0-88D5-4A3738FCEDE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361A333-A7F7-F0FD-9BA7-FF6C521806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2367E38-1C2E-1C13-E729-319C445B2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74735E5-DF04-EF4F-B77D-4CB00BDEC3E7}"/>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6" name="フッター プレースホルダー 5">
            <a:extLst>
              <a:ext uri="{FF2B5EF4-FFF2-40B4-BE49-F238E27FC236}">
                <a16:creationId xmlns:a16="http://schemas.microsoft.com/office/drawing/2014/main" id="{D43E90EA-C56E-360C-F9DD-F887BF44EA6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CD8201C-9E90-F668-B590-84976332DAE1}"/>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616141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A84AF8-0B22-EC22-796D-0DC53D34ED5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8332F46-8B2C-7724-8B44-36C5DF75FE1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201FAE-24F1-EA0E-5B82-384F08A37CAE}"/>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E155EED2-EF24-0835-7DB4-BABB6FFDBE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B124E34-817C-7C8E-F8F3-E6F1DECF512A}"/>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3564120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19BDE14-3517-DAAE-7FB5-E48C56C18E3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0E58DF3-B6CE-41DA-1B89-0E362AF7ECF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C06695-5C05-9596-5A64-600F301A0717}"/>
              </a:ext>
            </a:extLst>
          </p:cNvPr>
          <p:cNvSpPr>
            <a:spLocks noGrp="1"/>
          </p:cNvSpPr>
          <p:nvPr>
            <p:ph type="dt" sz="half" idx="10"/>
          </p:nvPr>
        </p:nvSpPr>
        <p:spPr/>
        <p:txBody>
          <a:bodyPr/>
          <a:lstStyle/>
          <a:p>
            <a:fld id="{6B9292E7-5007-47DD-B7DD-F3C739397FBA}" type="datetimeFigureOut">
              <a:rPr kumimoji="1" lang="ja-JP" altLang="en-US" smtClean="0"/>
              <a:t>2025/11/7</a:t>
            </a:fld>
            <a:endParaRPr kumimoji="1" lang="ja-JP" altLang="en-US"/>
          </a:p>
        </p:txBody>
      </p:sp>
      <p:sp>
        <p:nvSpPr>
          <p:cNvPr id="5" name="フッター プレースホルダー 4">
            <a:extLst>
              <a:ext uri="{FF2B5EF4-FFF2-40B4-BE49-F238E27FC236}">
                <a16:creationId xmlns:a16="http://schemas.microsoft.com/office/drawing/2014/main" id="{5BF851FA-9CFA-1BD3-66FC-7930C963A1F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E6BF7E-465F-C118-D431-96695ED50117}"/>
              </a:ext>
            </a:extLst>
          </p:cNvPr>
          <p:cNvSpPr>
            <a:spLocks noGrp="1"/>
          </p:cNvSpPr>
          <p:nvPr>
            <p:ph type="sldNum" sz="quarter" idx="12"/>
          </p:nvPr>
        </p:nvSpPr>
        <p:spPr/>
        <p:txBody>
          <a:bodyPr/>
          <a:lstStyle/>
          <a:p>
            <a:fld id="{B92EAA7C-3742-4C0A-984A-DF0C39B14C0A}" type="slidenum">
              <a:rPr kumimoji="1" lang="ja-JP" altLang="en-US" smtClean="0"/>
              <a:t>‹#›</a:t>
            </a:fld>
            <a:endParaRPr kumimoji="1" lang="ja-JP" altLang="en-US"/>
          </a:p>
        </p:txBody>
      </p:sp>
    </p:spTree>
    <p:extLst>
      <p:ext uri="{BB962C8B-B14F-4D97-AF65-F5344CB8AC3E}">
        <p14:creationId xmlns:p14="http://schemas.microsoft.com/office/powerpoint/2010/main" val="3143465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90DDFE0-9A3F-9B28-23B5-6DAB33AD11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2B82A533-DE9B-8C0F-6F50-497BB38B82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9E89836D-1558-1AF1-253B-6C89227154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UD デジタル 教科書体 NP" panose="02020400000000000000" pitchFamily="18" charset="-128"/>
                <a:ea typeface="UD デジタル 教科書体 NP" panose="02020400000000000000" pitchFamily="18" charset="-128"/>
              </a:defRPr>
            </a:lvl1pPr>
          </a:lstStyle>
          <a:p>
            <a:fld id="{6B9292E7-5007-47DD-B7DD-F3C739397FBA}" type="datetimeFigureOut">
              <a:rPr lang="ja-JP" altLang="en-US" smtClean="0"/>
              <a:pPr/>
              <a:t>2025/11/7</a:t>
            </a:fld>
            <a:endParaRPr lang="ja-JP" altLang="en-US" dirty="0"/>
          </a:p>
        </p:txBody>
      </p:sp>
      <p:sp>
        <p:nvSpPr>
          <p:cNvPr id="5" name="フッター プレースホルダー 4">
            <a:extLst>
              <a:ext uri="{FF2B5EF4-FFF2-40B4-BE49-F238E27FC236}">
                <a16:creationId xmlns:a16="http://schemas.microsoft.com/office/drawing/2014/main" id="{B34C2BB6-00FA-A655-FA97-894536E712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UD デジタル 教科書体 NP" panose="02020400000000000000" pitchFamily="18" charset="-128"/>
                <a:ea typeface="UD デジタル 教科書体 NP" panose="02020400000000000000" pitchFamily="18" charset="-128"/>
              </a:defRPr>
            </a:lvl1pPr>
          </a:lstStyle>
          <a:p>
            <a:endParaRPr lang="ja-JP" altLang="en-US" dirty="0"/>
          </a:p>
        </p:txBody>
      </p:sp>
      <p:sp>
        <p:nvSpPr>
          <p:cNvPr id="6" name="スライド番号プレースホルダー 5">
            <a:extLst>
              <a:ext uri="{FF2B5EF4-FFF2-40B4-BE49-F238E27FC236}">
                <a16:creationId xmlns:a16="http://schemas.microsoft.com/office/drawing/2014/main" id="{44F20B76-8A73-F086-E90D-279400FCD7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UD デジタル 教科書体 NP" panose="02020400000000000000" pitchFamily="18" charset="-128"/>
                <a:ea typeface="UD デジタル 教科書体 NP" panose="02020400000000000000" pitchFamily="18" charset="-128"/>
              </a:defRPr>
            </a:lvl1pPr>
          </a:lstStyle>
          <a:p>
            <a:fld id="{B92EAA7C-3742-4C0A-984A-DF0C39B14C0A}" type="slidenum">
              <a:rPr lang="ja-JP" altLang="en-US" smtClean="0"/>
              <a:pPr/>
              <a:t>‹#›</a:t>
            </a:fld>
            <a:endParaRPr lang="ja-JP" altLang="en-US" dirty="0"/>
          </a:p>
        </p:txBody>
      </p:sp>
    </p:spTree>
    <p:extLst>
      <p:ext uri="{BB962C8B-B14F-4D97-AF65-F5344CB8AC3E}">
        <p14:creationId xmlns:p14="http://schemas.microsoft.com/office/powerpoint/2010/main" val="2853197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e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UD デジタル 教科書体 NP" panose="02020400000000000000" pitchFamily="18" charset="-128"/>
          <a:ea typeface="UD デジタル 教科書体 NP"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UD デジタル 教科書体 NP" panose="02020400000000000000" pitchFamily="18" charset="-128"/>
          <a:ea typeface="UD デジタル 教科書体 NP" panose="02020400000000000000" pitchFamily="18"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UD デジタル 教科書体 NP" panose="02020400000000000000" pitchFamily="18" charset="-128"/>
          <a:ea typeface="UD デジタル 教科書体 NP" panose="02020400000000000000" pitchFamily="18"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UD デジタル 教科書体 NP" panose="02020400000000000000" pitchFamily="18" charset="-128"/>
          <a:ea typeface="UD デジタル 教科書体 NP" panose="02020400000000000000" pitchFamily="18"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UD デジタル 教科書体 NP" panose="02020400000000000000" pitchFamily="18" charset="-128"/>
          <a:ea typeface="UD デジタル 教科書体 NP" panose="02020400000000000000" pitchFamily="18"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eb-platform-dx.github.io/web-features/" TargetMode="External"/><Relationship Id="rId2" Type="http://schemas.openxmlformats.org/officeDocument/2006/relationships/hyperlink" Target="https://min-common-api.proposal.wintertc.org/" TargetMode="External"/><Relationship Id="rId1" Type="http://schemas.openxmlformats.org/officeDocument/2006/relationships/slideLayout" Target="../slideLayouts/slideLayout2.xml"/><Relationship Id="rId4" Type="http://schemas.openxmlformats.org/officeDocument/2006/relationships/hyperlink" Target="https://www.w3.org/TR/css-202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w3.org/community/open-ui/" TargetMode="External"/><Relationship Id="rId2" Type="http://schemas.openxmlformats.org/officeDocument/2006/relationships/hyperlink" Target="https://open-ui.or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w3.org/2025/11/TPAC/"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ti.to/ntt-db/kobe-developer-meetu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DFADD7-5C6C-8744-67FA-9735640F2C0C}"/>
              </a:ext>
            </a:extLst>
          </p:cNvPr>
          <p:cNvSpPr>
            <a:spLocks noGrp="1"/>
          </p:cNvSpPr>
          <p:nvPr>
            <p:ph type="ctrTitle"/>
          </p:nvPr>
        </p:nvSpPr>
        <p:spPr/>
        <p:txBody>
          <a:bodyPr>
            <a:normAutofit/>
          </a:bodyPr>
          <a:lstStyle/>
          <a:p>
            <a:r>
              <a:rPr kumimoji="1" lang="ja-JP" altLang="en-US" sz="3600" dirty="0">
                <a:latin typeface="UD デジタル 教科書体 NP" panose="02020400000000000000" pitchFamily="18" charset="-128"/>
                <a:ea typeface="UD デジタル 教科書体 NP" panose="02020400000000000000" pitchFamily="18" charset="-128"/>
              </a:rPr>
              <a:t>ウェブ関連標準化とオープンソース実装の関係性と展望</a:t>
            </a:r>
          </a:p>
        </p:txBody>
      </p:sp>
      <p:sp>
        <p:nvSpPr>
          <p:cNvPr id="3" name="字幕 2">
            <a:extLst>
              <a:ext uri="{FF2B5EF4-FFF2-40B4-BE49-F238E27FC236}">
                <a16:creationId xmlns:a16="http://schemas.microsoft.com/office/drawing/2014/main" id="{131C77B5-69D3-716E-196A-DE4FA31DB73A}"/>
              </a:ext>
            </a:extLst>
          </p:cNvPr>
          <p:cNvSpPr>
            <a:spLocks noGrp="1"/>
          </p:cNvSpPr>
          <p:nvPr>
            <p:ph type="subTitle" idx="1"/>
          </p:nvPr>
        </p:nvSpPr>
        <p:spPr/>
        <p:txBody>
          <a:bodyPr/>
          <a:lstStyle/>
          <a:p>
            <a:endParaRPr kumimoji="1" lang="en-US" altLang="ja-JP" dirty="0"/>
          </a:p>
          <a:p>
            <a:r>
              <a:rPr kumimoji="1" lang="en-US" altLang="ja-JP" dirty="0"/>
              <a:t>@himorin</a:t>
            </a:r>
          </a:p>
          <a:p>
            <a:r>
              <a:rPr lang="en-US" altLang="ja-JP" dirty="0"/>
              <a:t>2025/11/08</a:t>
            </a:r>
            <a:r>
              <a:rPr lang="ja-JP" altLang="en-US" dirty="0"/>
              <a:t> </a:t>
            </a:r>
            <a:r>
              <a:rPr lang="en-US" altLang="ja-JP" dirty="0"/>
              <a:t>KOF</a:t>
            </a:r>
          </a:p>
        </p:txBody>
      </p:sp>
    </p:spTree>
    <p:extLst>
      <p:ext uri="{BB962C8B-B14F-4D97-AF65-F5344CB8AC3E}">
        <p14:creationId xmlns:p14="http://schemas.microsoft.com/office/powerpoint/2010/main" val="2390117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FD5840-F932-0EE6-C583-9D01C09985BF}"/>
              </a:ext>
            </a:extLst>
          </p:cNvPr>
          <p:cNvSpPr>
            <a:spLocks noGrp="1"/>
          </p:cNvSpPr>
          <p:nvPr>
            <p:ph type="title"/>
          </p:nvPr>
        </p:nvSpPr>
        <p:spPr/>
        <p:txBody>
          <a:bodyPr/>
          <a:lstStyle/>
          <a:p>
            <a:pPr algn="ctr"/>
            <a:r>
              <a:rPr kumimoji="1" lang="en-US" altLang="ja-JP" b="1" dirty="0">
                <a:latin typeface="UD デジタル 教科書体 NP" panose="02020400000000000000" pitchFamily="18" charset="-128"/>
                <a:ea typeface="UD デジタル 教科書体 NP" panose="02020400000000000000" pitchFamily="18" charset="-128"/>
              </a:rPr>
              <a:t>Overview</a:t>
            </a:r>
            <a:endParaRPr kumimoji="1" lang="ja-JP" altLang="en-US" b="1" dirty="0">
              <a:latin typeface="UD デジタル 教科書体 NP" panose="02020400000000000000" pitchFamily="18" charset="-128"/>
              <a:ea typeface="UD デジタル 教科書体 NP" panose="02020400000000000000" pitchFamily="18" charset="-128"/>
            </a:endParaRPr>
          </a:p>
        </p:txBody>
      </p:sp>
      <p:sp>
        <p:nvSpPr>
          <p:cNvPr id="3" name="コンテンツ プレースホルダー 2">
            <a:extLst>
              <a:ext uri="{FF2B5EF4-FFF2-40B4-BE49-F238E27FC236}">
                <a16:creationId xmlns:a16="http://schemas.microsoft.com/office/drawing/2014/main" id="{8B752092-0436-E5F0-C053-F94B1A9010BA}"/>
              </a:ext>
            </a:extLst>
          </p:cNvPr>
          <p:cNvSpPr>
            <a:spLocks noGrp="1"/>
          </p:cNvSpPr>
          <p:nvPr>
            <p:ph idx="1"/>
          </p:nvPr>
        </p:nvSpPr>
        <p:spPr>
          <a:xfrm>
            <a:off x="838199" y="1825625"/>
            <a:ext cx="11219985" cy="4351338"/>
          </a:xfrm>
        </p:spPr>
        <p:txBody>
          <a:bodyPr/>
          <a:lstStyle/>
          <a:p>
            <a:r>
              <a:rPr kumimoji="1" lang="ja-JP" altLang="en-US" dirty="0">
                <a:latin typeface="UD デジタル 教科書体 NP" panose="02020400000000000000" pitchFamily="18" charset="-128"/>
                <a:ea typeface="UD デジタル 教科書体 NP" panose="02020400000000000000" pitchFamily="18" charset="-128"/>
              </a:rPr>
              <a:t>ブラウザ周辺</a:t>
            </a:r>
            <a:r>
              <a:rPr lang="ja-JP" altLang="en-US" dirty="0">
                <a:latin typeface="UD デジタル 教科書体 NP" panose="02020400000000000000" pitchFamily="18" charset="-128"/>
                <a:ea typeface="UD デジタル 教科書体 NP" panose="02020400000000000000" pitchFamily="18" charset="-128"/>
              </a:rPr>
              <a:t>の最近の概況 </a:t>
            </a:r>
            <a:r>
              <a:rPr lang="en-US" altLang="ja-JP" dirty="0">
                <a:latin typeface="UD デジタル 教科書体 NP" panose="02020400000000000000" pitchFamily="18" charset="-128"/>
                <a:ea typeface="UD デジタル 教科書体 NP" panose="02020400000000000000" pitchFamily="18" charset="-128"/>
              </a:rPr>
              <a:t>(IETF, WHATWG, W3C, </a:t>
            </a:r>
            <a:r>
              <a:rPr lang="en-US" altLang="ja-JP" dirty="0" err="1">
                <a:latin typeface="UD デジタル 教科書体 NP" panose="02020400000000000000" pitchFamily="18" charset="-128"/>
                <a:ea typeface="UD デジタル 教科書体 NP" panose="02020400000000000000" pitchFamily="18" charset="-128"/>
              </a:rPr>
              <a:t>Ecma</a:t>
            </a:r>
            <a:r>
              <a:rPr lang="en-US" altLang="ja-JP" dirty="0">
                <a:latin typeface="UD デジタル 教科書体 NP" panose="02020400000000000000" pitchFamily="18" charset="-128"/>
                <a:ea typeface="UD デジタル 教科書体 NP" panose="02020400000000000000" pitchFamily="18" charset="-128"/>
              </a:rPr>
              <a:t> TC39)</a:t>
            </a:r>
          </a:p>
          <a:p>
            <a:pPr lvl="1"/>
            <a:r>
              <a:rPr kumimoji="1" lang="ja-JP" altLang="en-US" dirty="0">
                <a:latin typeface="UD デジタル 教科書体 NP" panose="02020400000000000000" pitchFamily="18" charset="-128"/>
                <a:ea typeface="UD デジタル 教科書体 NP" panose="02020400000000000000" pitchFamily="18" charset="-128"/>
              </a:rPr>
              <a:t>ハードウェア進化への対応、高パフォーマンス化</a:t>
            </a:r>
            <a:endParaRPr kumimoji="1" lang="en-US" altLang="ja-JP" dirty="0">
              <a:latin typeface="UD デジタル 教科書体 NP" panose="02020400000000000000" pitchFamily="18" charset="-128"/>
              <a:ea typeface="UD デジタル 教科書体 NP" panose="02020400000000000000" pitchFamily="18" charset="-128"/>
            </a:endParaRPr>
          </a:p>
          <a:p>
            <a:pPr lvl="1"/>
            <a:r>
              <a:rPr kumimoji="1" lang="en-US" altLang="ja-JP" dirty="0">
                <a:latin typeface="UD デジタル 教科書体 NP" panose="02020400000000000000" pitchFamily="18" charset="-128"/>
                <a:ea typeface="UD デジタル 教科書体 NP" panose="02020400000000000000" pitchFamily="18" charset="-128"/>
              </a:rPr>
              <a:t>SDO</a:t>
            </a:r>
            <a:r>
              <a:rPr kumimoji="1" lang="ja-JP" altLang="en-US" dirty="0">
                <a:latin typeface="UD デジタル 教科書体 NP" panose="02020400000000000000" pitchFamily="18" charset="-128"/>
                <a:ea typeface="UD デジタル 教科書体 NP" panose="02020400000000000000" pitchFamily="18" charset="-128"/>
              </a:rPr>
              <a:t>間の相互連携</a:t>
            </a:r>
            <a:endParaRPr kumimoji="1" lang="en-US" altLang="ja-JP" dirty="0">
              <a:latin typeface="UD デジタル 教科書体 NP" panose="02020400000000000000" pitchFamily="18" charset="-128"/>
              <a:ea typeface="UD デジタル 教科書体 NP" panose="02020400000000000000" pitchFamily="18" charset="-128"/>
            </a:endParaRPr>
          </a:p>
          <a:p>
            <a:r>
              <a:rPr lang="en-US" altLang="ja-JP" dirty="0"/>
              <a:t>OSS</a:t>
            </a:r>
            <a:r>
              <a:rPr lang="ja-JP" altLang="en-US" dirty="0"/>
              <a:t>との関連</a:t>
            </a:r>
            <a:endParaRPr lang="en-US" altLang="ja-JP" dirty="0"/>
          </a:p>
          <a:p>
            <a:pPr lvl="1"/>
            <a:r>
              <a:rPr lang="en-US" altLang="ja-JP" dirty="0"/>
              <a:t>Globally used single implementation by OSS</a:t>
            </a:r>
          </a:p>
          <a:p>
            <a:pPr lvl="1"/>
            <a:r>
              <a:rPr lang="en-US" altLang="ja-JP" dirty="0"/>
              <a:t>OSS</a:t>
            </a:r>
            <a:r>
              <a:rPr lang="ja-JP" altLang="en-US" dirty="0"/>
              <a:t>ライブラリからの標準仕様、</a:t>
            </a:r>
            <a:r>
              <a:rPr lang="en-US" altLang="ja-JP" dirty="0"/>
              <a:t>OSS</a:t>
            </a:r>
            <a:r>
              <a:rPr lang="ja-JP" altLang="en-US" dirty="0"/>
              <a:t>としての標準仕様</a:t>
            </a:r>
            <a:endParaRPr lang="en-US" altLang="ja-JP" dirty="0"/>
          </a:p>
          <a:p>
            <a:r>
              <a:rPr lang="ja-JP" altLang="en-US" dirty="0"/>
              <a:t>これから </a:t>
            </a:r>
            <a:r>
              <a:rPr lang="en-US" altLang="ja-JP" dirty="0"/>
              <a:t>– open discussion</a:t>
            </a:r>
          </a:p>
        </p:txBody>
      </p:sp>
    </p:spTree>
    <p:extLst>
      <p:ext uri="{BB962C8B-B14F-4D97-AF65-F5344CB8AC3E}">
        <p14:creationId xmlns:p14="http://schemas.microsoft.com/office/powerpoint/2010/main" val="79257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100CD714-5A14-2EF4-D90A-935A9D333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000" y="98126"/>
            <a:ext cx="11200000" cy="6300000"/>
          </a:xfrm>
          <a:prstGeom prst="rect">
            <a:avLst/>
          </a:prstGeom>
        </p:spPr>
      </p:pic>
      <p:sp>
        <p:nvSpPr>
          <p:cNvPr id="9" name="テキスト ボックス 8">
            <a:extLst>
              <a:ext uri="{FF2B5EF4-FFF2-40B4-BE49-F238E27FC236}">
                <a16:creationId xmlns:a16="http://schemas.microsoft.com/office/drawing/2014/main" id="{E875A696-E096-AD9E-B5F5-52A1A3B60BED}"/>
              </a:ext>
            </a:extLst>
          </p:cNvPr>
          <p:cNvSpPr txBox="1"/>
          <p:nvPr/>
        </p:nvSpPr>
        <p:spPr>
          <a:xfrm>
            <a:off x="8673483" y="6398126"/>
            <a:ext cx="3333935" cy="646331"/>
          </a:xfrm>
          <a:prstGeom prst="rect">
            <a:avLst/>
          </a:prstGeom>
          <a:noFill/>
        </p:spPr>
        <p:txBody>
          <a:bodyPr wrap="square">
            <a:spAutoFit/>
          </a:bodyPr>
          <a:lstStyle/>
          <a:p>
            <a:r>
              <a:rPr lang="en-US" altLang="ja-JP" dirty="0" err="1">
                <a:latin typeface="UD デジタル 教科書体 NP" panose="02020400000000000000" pitchFamily="18" charset="-128"/>
                <a:ea typeface="UD デジタル 教科書体 NP" panose="02020400000000000000" pitchFamily="18" charset="-128"/>
              </a:rPr>
              <a:t>dynamis</a:t>
            </a:r>
            <a:r>
              <a:rPr lang="en-US" altLang="ja-JP" dirty="0">
                <a:latin typeface="UD デジタル 教科書体 NP" panose="02020400000000000000" pitchFamily="18" charset="-128"/>
                <a:ea typeface="UD デジタル 教科書体 NP" panose="02020400000000000000" pitchFamily="18" charset="-128"/>
              </a:rPr>
              <a:t>; </a:t>
            </a:r>
            <a:r>
              <a:rPr lang="ja-JP" altLang="en-US" dirty="0">
                <a:latin typeface="UD デジタル 教科書体 NP" panose="02020400000000000000" pitchFamily="18" charset="-128"/>
                <a:ea typeface="UD デジタル 教科書体 NP" panose="02020400000000000000" pitchFamily="18" charset="-128"/>
              </a:rPr>
              <a:t>https://webapi.link/</a:t>
            </a:r>
          </a:p>
        </p:txBody>
      </p:sp>
    </p:spTree>
    <p:extLst>
      <p:ext uri="{BB962C8B-B14F-4D97-AF65-F5344CB8AC3E}">
        <p14:creationId xmlns:p14="http://schemas.microsoft.com/office/powerpoint/2010/main" val="216795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B67B0C-4BAD-9F90-DE7B-70D13590F968}"/>
              </a:ext>
            </a:extLst>
          </p:cNvPr>
          <p:cNvSpPr>
            <a:spLocks noGrp="1"/>
          </p:cNvSpPr>
          <p:nvPr>
            <p:ph type="title"/>
          </p:nvPr>
        </p:nvSpPr>
        <p:spPr/>
        <p:txBody>
          <a:bodyPr/>
          <a:lstStyle/>
          <a:p>
            <a:r>
              <a:rPr kumimoji="1" lang="ja-JP" altLang="en-US" dirty="0"/>
              <a:t>最近</a:t>
            </a:r>
            <a:r>
              <a:rPr kumimoji="1" lang="en-US" altLang="ja-JP" dirty="0"/>
              <a:t>5</a:t>
            </a:r>
            <a:r>
              <a:rPr kumimoji="1" lang="ja-JP" altLang="en-US" dirty="0"/>
              <a:t>年くらいのアップデート</a:t>
            </a:r>
          </a:p>
        </p:txBody>
      </p:sp>
      <p:sp>
        <p:nvSpPr>
          <p:cNvPr id="3" name="コンテンツ プレースホルダー 2">
            <a:extLst>
              <a:ext uri="{FF2B5EF4-FFF2-40B4-BE49-F238E27FC236}">
                <a16:creationId xmlns:a16="http://schemas.microsoft.com/office/drawing/2014/main" id="{2C0F6207-E100-DBD8-7C46-486C3E493287}"/>
              </a:ext>
            </a:extLst>
          </p:cNvPr>
          <p:cNvSpPr>
            <a:spLocks noGrp="1"/>
          </p:cNvSpPr>
          <p:nvPr>
            <p:ph idx="1"/>
          </p:nvPr>
        </p:nvSpPr>
        <p:spPr>
          <a:xfrm>
            <a:off x="838199" y="1825625"/>
            <a:ext cx="11137778" cy="4805994"/>
          </a:xfrm>
        </p:spPr>
        <p:txBody>
          <a:bodyPr>
            <a:normAutofit fontScale="92500" lnSpcReduction="10000"/>
          </a:bodyPr>
          <a:lstStyle/>
          <a:p>
            <a:r>
              <a:rPr kumimoji="1" lang="ja-JP" altLang="en-US" dirty="0"/>
              <a:t>パフォーマンス向上への対応</a:t>
            </a:r>
            <a:endParaRPr kumimoji="1" lang="en-US" altLang="ja-JP" dirty="0"/>
          </a:p>
          <a:p>
            <a:pPr lvl="1"/>
            <a:r>
              <a:rPr lang="en-US" altLang="ja-JP" dirty="0"/>
              <a:t>HTTP/3: QUIC WG 2016</a:t>
            </a:r>
            <a:r>
              <a:rPr lang="ja-JP" altLang="en-US" dirty="0"/>
              <a:t>年開始、</a:t>
            </a:r>
            <a:r>
              <a:rPr lang="en-US" altLang="ja-JP" dirty="0"/>
              <a:t>2021/5 RFC #9000</a:t>
            </a:r>
            <a:r>
              <a:rPr lang="ja-JP" altLang="en-US" dirty="0"/>
              <a:t>公開</a:t>
            </a:r>
            <a:endParaRPr lang="en-US" altLang="ja-JP" dirty="0"/>
          </a:p>
          <a:p>
            <a:pPr lvl="1"/>
            <a:r>
              <a:rPr kumimoji="1" lang="en-US" altLang="ja-JP" dirty="0" err="1"/>
              <a:t>WebAudio</a:t>
            </a:r>
            <a:r>
              <a:rPr kumimoji="1" lang="en-US" altLang="ja-JP" dirty="0"/>
              <a:t>: 2021/6</a:t>
            </a:r>
          </a:p>
          <a:p>
            <a:pPr lvl="1"/>
            <a:r>
              <a:rPr lang="en-US" altLang="ja-JP" dirty="0"/>
              <a:t>beyond WebRTC</a:t>
            </a:r>
          </a:p>
          <a:p>
            <a:pPr lvl="2"/>
            <a:r>
              <a:rPr kumimoji="1" lang="en-US" altLang="ja-JP" dirty="0" err="1"/>
              <a:t>WebTransport</a:t>
            </a:r>
            <a:r>
              <a:rPr kumimoji="1" lang="en-US" altLang="ja-JP" dirty="0"/>
              <a:t> (2020</a:t>
            </a:r>
            <a:r>
              <a:rPr kumimoji="1" lang="ja-JP" altLang="en-US" dirty="0"/>
              <a:t>～</a:t>
            </a:r>
            <a:r>
              <a:rPr kumimoji="1" lang="en-US" altLang="ja-JP" dirty="0"/>
              <a:t>)</a:t>
            </a:r>
            <a:r>
              <a:rPr kumimoji="1" lang="ja-JP" altLang="en-US" dirty="0"/>
              <a:t>、</a:t>
            </a:r>
            <a:r>
              <a:rPr kumimoji="1" lang="en-US" altLang="ja-JP" dirty="0" err="1"/>
              <a:t>WebCodecs</a:t>
            </a:r>
            <a:r>
              <a:rPr lang="en-US" altLang="ja-JP" dirty="0"/>
              <a:t> (2021</a:t>
            </a:r>
            <a:r>
              <a:rPr lang="ja-JP" altLang="en-US" dirty="0"/>
              <a:t>～</a:t>
            </a:r>
            <a:r>
              <a:rPr lang="en-US" altLang="ja-JP" dirty="0"/>
              <a:t>)</a:t>
            </a:r>
            <a:r>
              <a:rPr lang="ja-JP" altLang="en-US" dirty="0"/>
              <a:t>、</a:t>
            </a:r>
            <a:r>
              <a:rPr lang="en-US" altLang="ja-JP" dirty="0" err="1"/>
              <a:t>MediaStreamTrack</a:t>
            </a:r>
            <a:r>
              <a:rPr lang="en-US" altLang="ja-JP" dirty="0"/>
              <a:t> (2018/20</a:t>
            </a:r>
            <a:r>
              <a:rPr lang="ja-JP" altLang="en-US" dirty="0"/>
              <a:t>～</a:t>
            </a:r>
            <a:r>
              <a:rPr lang="en-US" altLang="ja-JP" dirty="0"/>
              <a:t>)</a:t>
            </a:r>
            <a:r>
              <a:rPr lang="ja-JP" altLang="en-US" dirty="0"/>
              <a:t>、</a:t>
            </a:r>
            <a:r>
              <a:rPr lang="en-US" altLang="ja-JP" dirty="0" err="1"/>
              <a:t>RTPTransport</a:t>
            </a:r>
            <a:r>
              <a:rPr lang="en-US" altLang="ja-JP" dirty="0"/>
              <a:t> (2023</a:t>
            </a:r>
            <a:r>
              <a:rPr lang="ja-JP" altLang="en-US" dirty="0"/>
              <a:t>～</a:t>
            </a:r>
            <a:r>
              <a:rPr lang="en-US" altLang="ja-JP" dirty="0"/>
              <a:t>)</a:t>
            </a:r>
            <a:r>
              <a:rPr lang="ja-JP" altLang="en-US" dirty="0"/>
              <a:t>、</a:t>
            </a:r>
            <a:r>
              <a:rPr lang="en-US" altLang="ja-JP" dirty="0" err="1"/>
              <a:t>MoQT</a:t>
            </a:r>
            <a:r>
              <a:rPr lang="en-US" altLang="ja-JP" dirty="0"/>
              <a:t> (2022</a:t>
            </a:r>
            <a:r>
              <a:rPr lang="ja-JP" altLang="en-US" dirty="0"/>
              <a:t>～</a:t>
            </a:r>
            <a:r>
              <a:rPr lang="en-US" altLang="ja-JP" dirty="0"/>
              <a:t>)</a:t>
            </a:r>
          </a:p>
          <a:p>
            <a:pPr lvl="1"/>
            <a:r>
              <a:rPr kumimoji="1" lang="en-US" altLang="ja-JP" dirty="0" err="1"/>
              <a:t>WebAssembly</a:t>
            </a:r>
            <a:r>
              <a:rPr kumimoji="1" lang="en-US" altLang="ja-JP" dirty="0"/>
              <a:t> (v2 2020</a:t>
            </a:r>
            <a:r>
              <a:rPr kumimoji="1" lang="ja-JP" altLang="en-US" dirty="0"/>
              <a:t>～</a:t>
            </a:r>
            <a:r>
              <a:rPr kumimoji="1" lang="en-US" altLang="ja-JP" dirty="0"/>
              <a:t>) – </a:t>
            </a:r>
            <a:r>
              <a:rPr kumimoji="1" lang="en-US" altLang="ja-JP" dirty="0" err="1"/>
              <a:t>wasm</a:t>
            </a:r>
            <a:r>
              <a:rPr kumimoji="1" lang="en-US" altLang="ja-JP" dirty="0"/>
              <a:t> 3.0 (2025)</a:t>
            </a:r>
            <a:r>
              <a:rPr kumimoji="1" lang="ja-JP" altLang="en-US" dirty="0"/>
              <a:t>、クラウドインフラ化</a:t>
            </a:r>
            <a:endParaRPr lang="en-US" altLang="ja-JP" dirty="0"/>
          </a:p>
          <a:p>
            <a:pPr lvl="1"/>
            <a:r>
              <a:rPr lang="en-US" altLang="ja-JP" dirty="0" err="1"/>
              <a:t>WebGPU</a:t>
            </a:r>
            <a:r>
              <a:rPr lang="en-US" altLang="ja-JP" dirty="0"/>
              <a:t>: </a:t>
            </a:r>
            <a:r>
              <a:rPr lang="ja-JP" altLang="en-US" dirty="0"/>
              <a:t>初版</a:t>
            </a:r>
            <a:r>
              <a:rPr lang="en-US" altLang="ja-JP" dirty="0"/>
              <a:t>CRS 2024/12</a:t>
            </a:r>
            <a:r>
              <a:rPr lang="ja-JP" altLang="en-US" dirty="0"/>
              <a:t>公開</a:t>
            </a:r>
            <a:endParaRPr kumimoji="1" lang="en-US" altLang="ja-JP" dirty="0"/>
          </a:p>
          <a:p>
            <a:pPr lvl="1"/>
            <a:r>
              <a:rPr kumimoji="1" lang="en-US" altLang="ja-JP" dirty="0" err="1"/>
              <a:t>WebNN</a:t>
            </a:r>
            <a:r>
              <a:rPr kumimoji="1" lang="en-US" altLang="ja-JP" dirty="0"/>
              <a:t> (2021</a:t>
            </a:r>
            <a:r>
              <a:rPr kumimoji="1" lang="ja-JP" altLang="en-US" dirty="0"/>
              <a:t>～</a:t>
            </a:r>
            <a:r>
              <a:rPr kumimoji="1" lang="en-US" altLang="ja-JP" dirty="0"/>
              <a:t>)</a:t>
            </a:r>
          </a:p>
          <a:p>
            <a:r>
              <a:rPr lang="ja-JP" altLang="en-US" dirty="0"/>
              <a:t>認証・認可</a:t>
            </a:r>
            <a:endParaRPr lang="en-US" altLang="ja-JP" dirty="0"/>
          </a:p>
          <a:p>
            <a:pPr lvl="1"/>
            <a:r>
              <a:rPr kumimoji="1" lang="en-US" altLang="ja-JP" dirty="0" err="1"/>
              <a:t>WebAuthn</a:t>
            </a:r>
            <a:r>
              <a:rPr kumimoji="1" lang="en-US" altLang="ja-JP" dirty="0"/>
              <a:t>: 2019/3 Lv1</a:t>
            </a:r>
            <a:r>
              <a:rPr kumimoji="1" lang="ja-JP" altLang="en-US" dirty="0"/>
              <a:t>公開</a:t>
            </a:r>
            <a:endParaRPr kumimoji="1" lang="en-US" altLang="ja-JP" dirty="0"/>
          </a:p>
          <a:p>
            <a:pPr lvl="1"/>
            <a:r>
              <a:rPr lang="en-US" altLang="ja-JP" dirty="0"/>
              <a:t>Federated Credential Management: </a:t>
            </a:r>
            <a:r>
              <a:rPr lang="en-US" altLang="ja-JP" dirty="0" err="1"/>
              <a:t>FedID</a:t>
            </a:r>
            <a:r>
              <a:rPr lang="en-US" altLang="ja-JP" dirty="0"/>
              <a:t> WG 2024</a:t>
            </a:r>
            <a:r>
              <a:rPr lang="ja-JP" altLang="en-US" dirty="0"/>
              <a:t>年から</a:t>
            </a:r>
            <a:r>
              <a:rPr lang="en-US" altLang="ja-JP" dirty="0"/>
              <a:t>UI</a:t>
            </a:r>
            <a:r>
              <a:rPr lang="ja-JP" altLang="en-US" dirty="0"/>
              <a:t>構成の向上</a:t>
            </a:r>
            <a:endParaRPr lang="en-US" altLang="ja-JP" dirty="0"/>
          </a:p>
          <a:p>
            <a:pPr lvl="1"/>
            <a:r>
              <a:rPr kumimoji="1" lang="en-US" altLang="ja-JP" dirty="0"/>
              <a:t>CSS</a:t>
            </a:r>
            <a:r>
              <a:rPr kumimoji="1" lang="ja-JP" altLang="en-US" dirty="0"/>
              <a:t>の</a:t>
            </a:r>
            <a:r>
              <a:rPr kumimoji="1" lang="en-US" altLang="ja-JP" dirty="0"/>
              <a:t>@</a:t>
            </a:r>
            <a:r>
              <a:rPr kumimoji="1" lang="ja-JP" altLang="en-US" dirty="0"/>
              <a:t>構文</a:t>
            </a:r>
            <a:r>
              <a:rPr kumimoji="1" lang="en-US" altLang="ja-JP" dirty="0"/>
              <a:t>, Grid, </a:t>
            </a:r>
            <a:r>
              <a:rPr kumimoji="1" lang="ja-JP" altLang="en-US" dirty="0"/>
              <a:t>テキスト表示</a:t>
            </a:r>
            <a:endParaRPr kumimoji="1" lang="en-US" altLang="ja-JP" dirty="0"/>
          </a:p>
          <a:p>
            <a:pPr lvl="1"/>
            <a:r>
              <a:rPr lang="en-US" altLang="ja-JP" dirty="0"/>
              <a:t>Web fonts: WOFF 2.0 (2024), IFT</a:t>
            </a:r>
            <a:endParaRPr kumimoji="1" lang="ja-JP" altLang="en-US" dirty="0"/>
          </a:p>
        </p:txBody>
      </p:sp>
    </p:spTree>
    <p:extLst>
      <p:ext uri="{BB962C8B-B14F-4D97-AF65-F5344CB8AC3E}">
        <p14:creationId xmlns:p14="http://schemas.microsoft.com/office/powerpoint/2010/main" val="2758236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4B2EB4-8422-1212-874D-81E56742D0A1}"/>
              </a:ext>
            </a:extLst>
          </p:cNvPr>
          <p:cNvSpPr>
            <a:spLocks noGrp="1"/>
          </p:cNvSpPr>
          <p:nvPr>
            <p:ph type="title"/>
          </p:nvPr>
        </p:nvSpPr>
        <p:spPr/>
        <p:txBody>
          <a:bodyPr/>
          <a:lstStyle/>
          <a:p>
            <a:r>
              <a:rPr kumimoji="1" lang="en-US" altLang="ja-JP" dirty="0">
                <a:latin typeface="+mj-ea"/>
                <a:ea typeface="+mj-ea"/>
              </a:rPr>
              <a:t>HTTP, WebRTC</a:t>
            </a:r>
            <a:r>
              <a:rPr kumimoji="1" lang="ja-JP" altLang="en-US" dirty="0">
                <a:latin typeface="+mj-ea"/>
                <a:ea typeface="+mj-ea"/>
              </a:rPr>
              <a:t>周りの変遷</a:t>
            </a:r>
          </a:p>
        </p:txBody>
      </p:sp>
      <p:pic>
        <p:nvPicPr>
          <p:cNvPr id="5" name="図 4">
            <a:extLst>
              <a:ext uri="{FF2B5EF4-FFF2-40B4-BE49-F238E27FC236}">
                <a16:creationId xmlns:a16="http://schemas.microsoft.com/office/drawing/2014/main" id="{4ADE8468-7CCD-30ED-4447-3D6269993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9559" y="2923532"/>
            <a:ext cx="3600000" cy="2091506"/>
          </a:xfrm>
          <a:prstGeom prst="rect">
            <a:avLst/>
          </a:prstGeom>
        </p:spPr>
      </p:pic>
      <p:pic>
        <p:nvPicPr>
          <p:cNvPr id="7" name="図 6">
            <a:extLst>
              <a:ext uri="{FF2B5EF4-FFF2-40B4-BE49-F238E27FC236}">
                <a16:creationId xmlns:a16="http://schemas.microsoft.com/office/drawing/2014/main" id="{EF328EDC-168C-F4B8-9CF0-7F4757449C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291" y="2414726"/>
            <a:ext cx="3600000" cy="3366620"/>
          </a:xfrm>
          <a:prstGeom prst="rect">
            <a:avLst/>
          </a:prstGeom>
        </p:spPr>
      </p:pic>
      <p:pic>
        <p:nvPicPr>
          <p:cNvPr id="9" name="図 8">
            <a:extLst>
              <a:ext uri="{FF2B5EF4-FFF2-40B4-BE49-F238E27FC236}">
                <a16:creationId xmlns:a16="http://schemas.microsoft.com/office/drawing/2014/main" id="{01E2D081-ABE0-7A31-5704-9E719F4CF9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2582" y="2929631"/>
            <a:ext cx="3600000" cy="2641558"/>
          </a:xfrm>
          <a:prstGeom prst="rect">
            <a:avLst/>
          </a:prstGeom>
        </p:spPr>
      </p:pic>
      <p:sp>
        <p:nvSpPr>
          <p:cNvPr id="10" name="テキスト ボックス 9">
            <a:extLst>
              <a:ext uri="{FF2B5EF4-FFF2-40B4-BE49-F238E27FC236}">
                <a16:creationId xmlns:a16="http://schemas.microsoft.com/office/drawing/2014/main" id="{86DDF6C9-89B2-D65B-FC73-143845C7F0E4}"/>
              </a:ext>
            </a:extLst>
          </p:cNvPr>
          <p:cNvSpPr txBox="1"/>
          <p:nvPr/>
        </p:nvSpPr>
        <p:spPr>
          <a:xfrm>
            <a:off x="8673483" y="6398126"/>
            <a:ext cx="3333935" cy="369332"/>
          </a:xfrm>
          <a:prstGeom prst="rect">
            <a:avLst/>
          </a:prstGeom>
          <a:noFill/>
        </p:spPr>
        <p:txBody>
          <a:bodyPr wrap="square">
            <a:spAutoFit/>
          </a:bodyPr>
          <a:lstStyle/>
          <a:p>
            <a:pPr algn="r"/>
            <a:r>
              <a:rPr lang="en-US" altLang="ja-JP" dirty="0">
                <a:latin typeface="UD デジタル 教科書体 NP" panose="02020400000000000000" pitchFamily="18" charset="-128"/>
                <a:ea typeface="UD デジタル 教科書体 NP" panose="02020400000000000000" pitchFamily="18" charset="-128"/>
              </a:rPr>
              <a:t>TPAC2021 video</a:t>
            </a:r>
            <a:endParaRPr lang="ja-JP" altLang="en-US" dirty="0">
              <a:latin typeface="UD デジタル 教科書体 NP" panose="02020400000000000000" pitchFamily="18" charset="-128"/>
              <a:ea typeface="UD デジタル 教科書体 NP" panose="02020400000000000000" pitchFamily="18" charset="-128"/>
            </a:endParaRPr>
          </a:p>
        </p:txBody>
      </p:sp>
    </p:spTree>
    <p:extLst>
      <p:ext uri="{BB962C8B-B14F-4D97-AF65-F5344CB8AC3E}">
        <p14:creationId xmlns:p14="http://schemas.microsoft.com/office/powerpoint/2010/main" val="1197626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F08B02-2141-2E5A-25EA-456B9D966029}"/>
              </a:ext>
            </a:extLst>
          </p:cNvPr>
          <p:cNvSpPr>
            <a:spLocks noGrp="1"/>
          </p:cNvSpPr>
          <p:nvPr>
            <p:ph type="title"/>
          </p:nvPr>
        </p:nvSpPr>
        <p:spPr/>
        <p:txBody>
          <a:bodyPr/>
          <a:lstStyle/>
          <a:p>
            <a:r>
              <a:rPr kumimoji="1" lang="en-US" altLang="ja-JP" dirty="0"/>
              <a:t>SDO</a:t>
            </a:r>
            <a:r>
              <a:rPr kumimoji="1" lang="ja-JP" altLang="en-US" dirty="0"/>
              <a:t>間の相互連携</a:t>
            </a:r>
          </a:p>
        </p:txBody>
      </p:sp>
      <p:sp>
        <p:nvSpPr>
          <p:cNvPr id="3" name="コンテンツ プレースホルダー 2">
            <a:extLst>
              <a:ext uri="{FF2B5EF4-FFF2-40B4-BE49-F238E27FC236}">
                <a16:creationId xmlns:a16="http://schemas.microsoft.com/office/drawing/2014/main" id="{AB6B5E4E-033D-E13C-F903-E6E08A11B7E9}"/>
              </a:ext>
            </a:extLst>
          </p:cNvPr>
          <p:cNvSpPr>
            <a:spLocks noGrp="1"/>
          </p:cNvSpPr>
          <p:nvPr>
            <p:ph idx="1"/>
          </p:nvPr>
        </p:nvSpPr>
        <p:spPr/>
        <p:txBody>
          <a:bodyPr/>
          <a:lstStyle/>
          <a:p>
            <a:pPr marL="0" indent="0">
              <a:buNone/>
            </a:pPr>
            <a:r>
              <a:rPr kumimoji="1" lang="en-US" altLang="ja-JP" dirty="0"/>
              <a:t>HTTP/3</a:t>
            </a:r>
            <a:r>
              <a:rPr kumimoji="1" lang="ja-JP" altLang="en-US" dirty="0"/>
              <a:t>以外でも、</a:t>
            </a:r>
            <a:r>
              <a:rPr lang="ja-JP" altLang="en-US" dirty="0"/>
              <a:t>ブラウザ外で利用されるようになった関連技術が増えたり</a:t>
            </a:r>
            <a:r>
              <a:rPr lang="en-US" altLang="ja-JP" dirty="0"/>
              <a:t>(node.js, </a:t>
            </a:r>
            <a:r>
              <a:rPr lang="en-US" altLang="ja-JP" dirty="0" err="1"/>
              <a:t>wasmCloud</a:t>
            </a:r>
            <a:r>
              <a:rPr lang="en-US" altLang="ja-JP" dirty="0"/>
              <a:t>, etc.)</a:t>
            </a:r>
            <a:r>
              <a:rPr lang="ja-JP" altLang="en-US" dirty="0"/>
              <a:t>、さまざまな機能を連携させたより便利な機能を考案したりなどのために、複数の</a:t>
            </a:r>
            <a:r>
              <a:rPr lang="en-US" altLang="ja-JP" dirty="0"/>
              <a:t>SDO</a:t>
            </a:r>
            <a:r>
              <a:rPr lang="ja-JP" altLang="en-US" dirty="0"/>
              <a:t>間の連携により仕様策定が行われている。</a:t>
            </a:r>
            <a:endParaRPr kumimoji="1" lang="ja-JP" altLang="en-US" dirty="0"/>
          </a:p>
        </p:txBody>
      </p:sp>
      <p:pic>
        <p:nvPicPr>
          <p:cNvPr id="5" name="図 4">
            <a:extLst>
              <a:ext uri="{FF2B5EF4-FFF2-40B4-BE49-F238E27FC236}">
                <a16:creationId xmlns:a16="http://schemas.microsoft.com/office/drawing/2014/main" id="{85A2D5CF-0FC0-B686-3B0C-B64A526D182D}"/>
              </a:ext>
            </a:extLst>
          </p:cNvPr>
          <p:cNvPicPr>
            <a:picLocks noChangeAspect="1"/>
          </p:cNvPicPr>
          <p:nvPr/>
        </p:nvPicPr>
        <p:blipFill>
          <a:blip r:embed="rId2"/>
          <a:stretch>
            <a:fillRect/>
          </a:stretch>
        </p:blipFill>
        <p:spPr>
          <a:xfrm>
            <a:off x="4992000" y="3363582"/>
            <a:ext cx="7200000" cy="3494418"/>
          </a:xfrm>
          <a:prstGeom prst="rect">
            <a:avLst/>
          </a:prstGeom>
        </p:spPr>
      </p:pic>
    </p:spTree>
    <p:extLst>
      <p:ext uri="{BB962C8B-B14F-4D97-AF65-F5344CB8AC3E}">
        <p14:creationId xmlns:p14="http://schemas.microsoft.com/office/powerpoint/2010/main" val="921988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1E079D-70D2-1216-202F-1263208508F8}"/>
              </a:ext>
            </a:extLst>
          </p:cNvPr>
          <p:cNvSpPr>
            <a:spLocks noGrp="1"/>
          </p:cNvSpPr>
          <p:nvPr>
            <p:ph type="title"/>
          </p:nvPr>
        </p:nvSpPr>
        <p:spPr/>
        <p:txBody>
          <a:bodyPr/>
          <a:lstStyle/>
          <a:p>
            <a:r>
              <a:rPr kumimoji="1" lang="en-US" altLang="ja-JP" dirty="0"/>
              <a:t>SDO</a:t>
            </a:r>
            <a:r>
              <a:rPr kumimoji="1" lang="ja-JP" altLang="en-US" dirty="0"/>
              <a:t>間の相互連携 </a:t>
            </a:r>
            <a:r>
              <a:rPr kumimoji="1" lang="en-US" altLang="ja-JP" dirty="0"/>
              <a:t>(II)</a:t>
            </a:r>
            <a:endParaRPr kumimoji="1" lang="ja-JP" altLang="en-US" dirty="0"/>
          </a:p>
        </p:txBody>
      </p:sp>
      <p:sp>
        <p:nvSpPr>
          <p:cNvPr id="3" name="コンテンツ プレースホルダー 2">
            <a:extLst>
              <a:ext uri="{FF2B5EF4-FFF2-40B4-BE49-F238E27FC236}">
                <a16:creationId xmlns:a16="http://schemas.microsoft.com/office/drawing/2014/main" id="{682CB102-E213-8A1F-3CDA-274F652EC892}"/>
              </a:ext>
            </a:extLst>
          </p:cNvPr>
          <p:cNvSpPr>
            <a:spLocks noGrp="1"/>
          </p:cNvSpPr>
          <p:nvPr>
            <p:ph idx="1"/>
          </p:nvPr>
        </p:nvSpPr>
        <p:spPr>
          <a:xfrm>
            <a:off x="838200" y="1825624"/>
            <a:ext cx="10889202" cy="4832627"/>
          </a:xfrm>
        </p:spPr>
        <p:txBody>
          <a:bodyPr>
            <a:normAutofit lnSpcReduction="10000"/>
          </a:bodyPr>
          <a:lstStyle/>
          <a:p>
            <a:pPr marL="0" indent="0">
              <a:buNone/>
            </a:pPr>
            <a:r>
              <a:rPr kumimoji="1" lang="ja-JP" altLang="en-US" dirty="0"/>
              <a:t>また、関連技術の利用範囲が</a:t>
            </a:r>
            <a:r>
              <a:rPr kumimoji="1" lang="en-US" altLang="ja-JP" dirty="0"/>
              <a:t>OS</a:t>
            </a:r>
            <a:r>
              <a:rPr kumimoji="1" lang="ja-JP" altLang="en-US" dirty="0"/>
              <a:t>レイヤーやクラウドなどの広範囲へ広がったことや、</a:t>
            </a:r>
            <a:r>
              <a:rPr kumimoji="1" lang="en-US" altLang="ja-JP" dirty="0" err="1"/>
              <a:t>XaaS</a:t>
            </a:r>
            <a:r>
              <a:rPr kumimoji="1" lang="ja-JP" altLang="en-US" dirty="0"/>
              <a:t>が普遍的になったことにより、相互連携・運用において必須となる基準リストの整備が</a:t>
            </a:r>
            <a:r>
              <a:rPr lang="ja-JP" altLang="en-US" dirty="0"/>
              <a:t>重視されてきている。</a:t>
            </a:r>
            <a:endParaRPr lang="en-US" altLang="ja-JP" dirty="0"/>
          </a:p>
          <a:p>
            <a:pPr marL="0" indent="0">
              <a:buNone/>
            </a:pPr>
            <a:endParaRPr kumimoji="1" lang="en-US" altLang="ja-JP" dirty="0"/>
          </a:p>
          <a:p>
            <a:r>
              <a:rPr kumimoji="1" lang="en-US" altLang="ja-JP" dirty="0" err="1"/>
              <a:t>WinterTC</a:t>
            </a:r>
            <a:r>
              <a:rPr lang="ja-JP" altLang="en-US" dirty="0"/>
              <a:t> </a:t>
            </a:r>
            <a:r>
              <a:rPr lang="en-US" altLang="ja-JP" dirty="0"/>
              <a:t>(ECMA; W3C Winter CG)</a:t>
            </a:r>
            <a:endParaRPr kumimoji="1" lang="en-US" altLang="ja-JP" dirty="0"/>
          </a:p>
          <a:p>
            <a:pPr lvl="1"/>
            <a:r>
              <a:rPr kumimoji="1" lang="en-US" altLang="ja-JP" dirty="0"/>
              <a:t>Minimum Common Web Platform API</a:t>
            </a:r>
          </a:p>
          <a:p>
            <a:pPr lvl="1"/>
            <a:r>
              <a:rPr lang="en-US" altLang="ja-JP" dirty="0">
                <a:hlinkClick r:id="rId2"/>
              </a:rPr>
              <a:t>https://min-common-api.proposal.wintertc.org/</a:t>
            </a:r>
            <a:endParaRPr lang="en-US" altLang="ja-JP" dirty="0"/>
          </a:p>
          <a:p>
            <a:r>
              <a:rPr kumimoji="1" lang="en-US" altLang="ja-JP" dirty="0"/>
              <a:t>Baseline (Web Developer Experience (</a:t>
            </a:r>
            <a:r>
              <a:rPr kumimoji="1" lang="en-US" altLang="ja-JP" dirty="0" err="1"/>
              <a:t>WebDX</a:t>
            </a:r>
            <a:r>
              <a:rPr kumimoji="1" lang="en-US" altLang="ja-JP" dirty="0"/>
              <a:t>) CG)</a:t>
            </a:r>
          </a:p>
          <a:p>
            <a:pPr lvl="1"/>
            <a:r>
              <a:rPr lang="en-US" altLang="ja-JP" dirty="0">
                <a:hlinkClick r:id="rId3"/>
              </a:rPr>
              <a:t>https://web-platform-dx.github.io/web-features/</a:t>
            </a:r>
            <a:endParaRPr lang="en-US" altLang="ja-JP" dirty="0"/>
          </a:p>
          <a:p>
            <a:r>
              <a:rPr lang="en-US" altLang="ja-JP" dirty="0"/>
              <a:t>CSS Snapshot (CSS WG, yearly) </a:t>
            </a:r>
          </a:p>
          <a:p>
            <a:pPr lvl="1"/>
            <a:r>
              <a:rPr lang="en-US" altLang="ja-JP" dirty="0">
                <a:hlinkClick r:id="rId4"/>
              </a:rPr>
              <a:t>https://www.w3.org/TR/css-2024/</a:t>
            </a:r>
            <a:endParaRPr kumimoji="1" lang="ja-JP" altLang="en-US" dirty="0"/>
          </a:p>
        </p:txBody>
      </p:sp>
    </p:spTree>
    <p:extLst>
      <p:ext uri="{BB962C8B-B14F-4D97-AF65-F5344CB8AC3E}">
        <p14:creationId xmlns:p14="http://schemas.microsoft.com/office/powerpoint/2010/main" val="3892606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FB6A63-7F7D-B0D6-2E4F-BE28DAFDDCBF}"/>
              </a:ext>
            </a:extLst>
          </p:cNvPr>
          <p:cNvSpPr>
            <a:spLocks noGrp="1"/>
          </p:cNvSpPr>
          <p:nvPr>
            <p:ph type="title"/>
          </p:nvPr>
        </p:nvSpPr>
        <p:spPr/>
        <p:txBody>
          <a:bodyPr/>
          <a:lstStyle/>
          <a:p>
            <a:r>
              <a:rPr kumimoji="1" lang="en-US" altLang="ja-JP" dirty="0">
                <a:latin typeface="UD デジタル 教科書体 NP" panose="02020400000000000000" pitchFamily="18" charset="-128"/>
                <a:ea typeface="UD デジタル 教科書体 NP" panose="02020400000000000000" pitchFamily="18" charset="-128"/>
              </a:rPr>
              <a:t>Single implementation by OSS</a:t>
            </a:r>
            <a:endParaRPr kumimoji="1" lang="ja-JP" altLang="en-US" dirty="0">
              <a:latin typeface="UD デジタル 教科書体 NP" panose="02020400000000000000" pitchFamily="18" charset="-128"/>
              <a:ea typeface="UD デジタル 教科書体 NP" panose="02020400000000000000" pitchFamily="18" charset="-128"/>
            </a:endParaRPr>
          </a:p>
        </p:txBody>
      </p:sp>
      <p:sp>
        <p:nvSpPr>
          <p:cNvPr id="3" name="コンテンツ プレースホルダー 2">
            <a:extLst>
              <a:ext uri="{FF2B5EF4-FFF2-40B4-BE49-F238E27FC236}">
                <a16:creationId xmlns:a16="http://schemas.microsoft.com/office/drawing/2014/main" id="{9D840CD8-7608-74AB-11F1-E814782EA53E}"/>
              </a:ext>
            </a:extLst>
          </p:cNvPr>
          <p:cNvSpPr>
            <a:spLocks noGrp="1"/>
          </p:cNvSpPr>
          <p:nvPr>
            <p:ph idx="1"/>
          </p:nvPr>
        </p:nvSpPr>
        <p:spPr/>
        <p:txBody>
          <a:bodyPr>
            <a:normAutofit lnSpcReduction="10000"/>
          </a:bodyPr>
          <a:lstStyle/>
          <a:p>
            <a:pPr marL="0" indent="0">
              <a:buNone/>
            </a:pPr>
            <a:r>
              <a:rPr kumimoji="1" lang="ja-JP" altLang="en-US" dirty="0"/>
              <a:t>それなりの領域において「単一</a:t>
            </a:r>
            <a:r>
              <a:rPr kumimoji="1" lang="en-US" altLang="ja-JP" dirty="0"/>
              <a:t>OSS</a:t>
            </a:r>
            <a:r>
              <a:rPr kumimoji="1" lang="ja-JP" altLang="en-US" dirty="0"/>
              <a:t>実装がほぼ全ての</a:t>
            </a:r>
            <a:r>
              <a:rPr kumimoji="1" lang="en-US" altLang="ja-JP" dirty="0"/>
              <a:t>(</a:t>
            </a:r>
            <a:r>
              <a:rPr kumimoji="1" lang="ja-JP" altLang="en-US" dirty="0"/>
              <a:t>ブラウザ</a:t>
            </a:r>
            <a:r>
              <a:rPr kumimoji="1" lang="en-US" altLang="ja-JP" dirty="0"/>
              <a:t>)</a:t>
            </a:r>
            <a:r>
              <a:rPr kumimoji="1" lang="ja-JP" altLang="en-US" dirty="0"/>
              <a:t>実装で利用されている」状況が増えてきている。</a:t>
            </a:r>
            <a:endParaRPr kumimoji="1" lang="en-US" altLang="ja-JP" dirty="0"/>
          </a:p>
          <a:p>
            <a:pPr marL="0" indent="0">
              <a:buNone/>
            </a:pPr>
            <a:endParaRPr kumimoji="1" lang="en-US" altLang="ja-JP" dirty="0"/>
          </a:p>
          <a:p>
            <a:r>
              <a:rPr kumimoji="1" lang="en-US" altLang="ja-JP" dirty="0"/>
              <a:t>WebRTC – </a:t>
            </a:r>
            <a:r>
              <a:rPr kumimoji="1" lang="en-US" altLang="ja-JP" dirty="0" err="1"/>
              <a:t>libwebrtc</a:t>
            </a:r>
            <a:endParaRPr kumimoji="1" lang="en-US" altLang="ja-JP" dirty="0"/>
          </a:p>
          <a:p>
            <a:r>
              <a:rPr lang="en-US" altLang="ja-JP" dirty="0"/>
              <a:t>WebGL – ANGLE</a:t>
            </a:r>
          </a:p>
          <a:p>
            <a:r>
              <a:rPr kumimoji="1" lang="ja-JP" altLang="en-US" dirty="0"/>
              <a:t>テキスト処理・表示</a:t>
            </a:r>
            <a:endParaRPr kumimoji="1" lang="en-US" altLang="ja-JP" dirty="0"/>
          </a:p>
          <a:p>
            <a:pPr lvl="1"/>
            <a:r>
              <a:rPr kumimoji="1" lang="en-US" altLang="ja-JP" dirty="0"/>
              <a:t>Unicode</a:t>
            </a:r>
          </a:p>
          <a:p>
            <a:pPr lvl="2"/>
            <a:r>
              <a:rPr lang="en-US" altLang="ja-JP" dirty="0" err="1"/>
              <a:t>cldr</a:t>
            </a:r>
            <a:r>
              <a:rPr lang="en-US" altLang="ja-JP" dirty="0"/>
              <a:t> - Common Locale Data Repository (in LDML format)</a:t>
            </a:r>
          </a:p>
          <a:p>
            <a:pPr lvl="2"/>
            <a:r>
              <a:rPr kumimoji="1" lang="en-US" altLang="ja-JP" dirty="0"/>
              <a:t>ICU - International Components for Unicode</a:t>
            </a:r>
          </a:p>
          <a:p>
            <a:pPr lvl="1"/>
            <a:r>
              <a:rPr lang="en-US" altLang="ja-JP" dirty="0" err="1"/>
              <a:t>Harfbuzz</a:t>
            </a:r>
            <a:r>
              <a:rPr lang="en-US" altLang="ja-JP" dirty="0"/>
              <a:t> - text shaping engine</a:t>
            </a:r>
            <a:endParaRPr kumimoji="1" lang="ja-JP" altLang="en-US" dirty="0"/>
          </a:p>
        </p:txBody>
      </p:sp>
    </p:spTree>
    <p:extLst>
      <p:ext uri="{BB962C8B-B14F-4D97-AF65-F5344CB8AC3E}">
        <p14:creationId xmlns:p14="http://schemas.microsoft.com/office/powerpoint/2010/main" val="2554411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5023DB-81F4-2C82-FF49-1C5CBB2815FC}"/>
              </a:ext>
            </a:extLst>
          </p:cNvPr>
          <p:cNvSpPr>
            <a:spLocks noGrp="1"/>
          </p:cNvSpPr>
          <p:nvPr>
            <p:ph type="title"/>
          </p:nvPr>
        </p:nvSpPr>
        <p:spPr/>
        <p:txBody>
          <a:bodyPr/>
          <a:lstStyle/>
          <a:p>
            <a:r>
              <a:rPr kumimoji="1" lang="en-US" altLang="ja-JP" dirty="0"/>
              <a:t>OSS</a:t>
            </a:r>
            <a:r>
              <a:rPr kumimoji="1" lang="ja-JP" altLang="en-US" dirty="0"/>
              <a:t>と標準仕様の相互循環</a:t>
            </a:r>
          </a:p>
        </p:txBody>
      </p:sp>
      <p:sp>
        <p:nvSpPr>
          <p:cNvPr id="3" name="コンテンツ プレースホルダー 2">
            <a:extLst>
              <a:ext uri="{FF2B5EF4-FFF2-40B4-BE49-F238E27FC236}">
                <a16:creationId xmlns:a16="http://schemas.microsoft.com/office/drawing/2014/main" id="{B58A43A5-DBDA-B604-A39A-586BC7D852FB}"/>
              </a:ext>
            </a:extLst>
          </p:cNvPr>
          <p:cNvSpPr>
            <a:spLocks noGrp="1"/>
          </p:cNvSpPr>
          <p:nvPr>
            <p:ph idx="1"/>
          </p:nvPr>
        </p:nvSpPr>
        <p:spPr/>
        <p:txBody>
          <a:bodyPr/>
          <a:lstStyle/>
          <a:p>
            <a:r>
              <a:rPr kumimoji="1" lang="en-US" altLang="ja-JP" dirty="0" err="1"/>
              <a:t>OpenUI</a:t>
            </a:r>
            <a:r>
              <a:rPr kumimoji="1" lang="en-US" altLang="ja-JP" dirty="0"/>
              <a:t> (W3C </a:t>
            </a:r>
            <a:r>
              <a:rPr kumimoji="1" lang="en-US" altLang="ja-JP" dirty="0" err="1"/>
              <a:t>OpenUI</a:t>
            </a:r>
            <a:r>
              <a:rPr kumimoji="1" lang="en-US" altLang="ja-JP" dirty="0"/>
              <a:t> </a:t>
            </a:r>
            <a:r>
              <a:rPr lang="en-US" altLang="ja-JP" dirty="0"/>
              <a:t>CG) </a:t>
            </a:r>
            <a:r>
              <a:rPr lang="en-US" altLang="ja-JP" dirty="0">
                <a:hlinkClick r:id="rId2"/>
              </a:rPr>
              <a:t>https://open-ui.org/</a:t>
            </a:r>
            <a:endParaRPr kumimoji="1" lang="en-US" altLang="ja-JP" dirty="0"/>
          </a:p>
          <a:p>
            <a:pPr lvl="1"/>
            <a:r>
              <a:rPr lang="en-US" altLang="ja-JP" dirty="0">
                <a:hlinkClick r:id="rId3"/>
              </a:rPr>
              <a:t>https://www.w3.org/community/open-ui/</a:t>
            </a:r>
            <a:endParaRPr lang="en-US" altLang="ja-JP" dirty="0"/>
          </a:p>
          <a:p>
            <a:pPr lvl="1"/>
            <a:r>
              <a:rPr kumimoji="1" lang="en-US" altLang="ja-JP" dirty="0"/>
              <a:t>Bootstrap</a:t>
            </a:r>
            <a:r>
              <a:rPr kumimoji="1" lang="ja-JP" altLang="en-US" dirty="0"/>
              <a:t>や</a:t>
            </a:r>
            <a:r>
              <a:rPr kumimoji="1" lang="en-US" altLang="ja-JP" dirty="0"/>
              <a:t>material-</a:t>
            </a:r>
            <a:r>
              <a:rPr kumimoji="1" lang="en-US" altLang="ja-JP" dirty="0" err="1"/>
              <a:t>ui</a:t>
            </a:r>
            <a:r>
              <a:rPr kumimoji="1" lang="ja-JP" altLang="en-US" dirty="0"/>
              <a:t>など</a:t>
            </a:r>
            <a:r>
              <a:rPr kumimoji="1" lang="en-US" altLang="ja-JP" dirty="0"/>
              <a:t>UI</a:t>
            </a:r>
            <a:r>
              <a:rPr kumimoji="1" lang="ja-JP" altLang="en-US" dirty="0"/>
              <a:t>ライブラリ・機構で共通に提供されている機能を解析・抽出して</a:t>
            </a:r>
            <a:r>
              <a:rPr lang="en-US" altLang="ja-JP" dirty="0"/>
              <a:t>HTML</a:t>
            </a:r>
            <a:r>
              <a:rPr lang="ja-JP" altLang="en-US" dirty="0"/>
              <a:t>や</a:t>
            </a:r>
            <a:r>
              <a:rPr lang="en-US" altLang="ja-JP" dirty="0"/>
              <a:t>CSS</a:t>
            </a:r>
            <a:r>
              <a:rPr lang="ja-JP" altLang="en-US" dirty="0"/>
              <a:t>へ機能提案を行う</a:t>
            </a:r>
            <a:endParaRPr kumimoji="1" lang="en-US" altLang="ja-JP" dirty="0"/>
          </a:p>
          <a:p>
            <a:r>
              <a:rPr kumimoji="1" lang="en-US" altLang="ja-JP" dirty="0"/>
              <a:t>Bytecode Alliance</a:t>
            </a:r>
            <a:r>
              <a:rPr lang="ja-JP" altLang="en-US" dirty="0"/>
              <a:t> </a:t>
            </a:r>
            <a:r>
              <a:rPr lang="en-US" altLang="ja-JP" dirty="0"/>
              <a:t>(</a:t>
            </a:r>
            <a:r>
              <a:rPr lang="en-US" altLang="ja-JP" dirty="0" err="1"/>
              <a:t>wasm</a:t>
            </a:r>
            <a:r>
              <a:rPr lang="en-US" altLang="ja-JP" dirty="0"/>
              <a:t>)</a:t>
            </a:r>
          </a:p>
          <a:p>
            <a:pPr lvl="1"/>
            <a:r>
              <a:rPr kumimoji="1" lang="en-US" altLang="ja-JP" dirty="0" err="1"/>
              <a:t>WebAssembly</a:t>
            </a:r>
            <a:r>
              <a:rPr kumimoji="1" lang="ja-JP" altLang="en-US" dirty="0"/>
              <a:t>がブラウザ外で実行環境として利用されるようになるにつれて</a:t>
            </a:r>
            <a:r>
              <a:rPr kumimoji="1" lang="en-US" altLang="ja-JP" dirty="0"/>
              <a:t>OS</a:t>
            </a:r>
            <a:r>
              <a:rPr kumimoji="1" lang="ja-JP" altLang="en-US" dirty="0"/>
              <a:t>との連携や</a:t>
            </a:r>
            <a:r>
              <a:rPr kumimoji="1" lang="en-US" altLang="ja-JP" dirty="0"/>
              <a:t>ABI</a:t>
            </a:r>
            <a:r>
              <a:rPr kumimoji="1" lang="ja-JP" altLang="en-US" dirty="0"/>
              <a:t>の整備など、ブラウザ環境ではない</a:t>
            </a:r>
            <a:r>
              <a:rPr lang="ja-JP" altLang="en-US" dirty="0"/>
              <a:t>領域での環境整備や、</a:t>
            </a:r>
            <a:r>
              <a:rPr lang="en-US" altLang="ja-JP" dirty="0"/>
              <a:t>JavaScript</a:t>
            </a:r>
            <a:r>
              <a:rPr lang="ja-JP" altLang="en-US" dirty="0"/>
              <a:t>を含めたインターフェースの整備が進められている</a:t>
            </a:r>
            <a:endParaRPr kumimoji="1" lang="ja-JP" altLang="en-US" dirty="0"/>
          </a:p>
        </p:txBody>
      </p:sp>
    </p:spTree>
    <p:extLst>
      <p:ext uri="{BB962C8B-B14F-4D97-AF65-F5344CB8AC3E}">
        <p14:creationId xmlns:p14="http://schemas.microsoft.com/office/powerpoint/2010/main" val="57003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A7973C-D0B1-3471-1687-144E58DD47AA}"/>
              </a:ext>
            </a:extLst>
          </p:cNvPr>
          <p:cNvSpPr>
            <a:spLocks noGrp="1"/>
          </p:cNvSpPr>
          <p:nvPr>
            <p:ph type="title"/>
          </p:nvPr>
        </p:nvSpPr>
        <p:spPr/>
        <p:txBody>
          <a:bodyPr/>
          <a:lstStyle/>
          <a:p>
            <a:r>
              <a:rPr kumimoji="1" lang="ja-JP" altLang="en-US" dirty="0"/>
              <a:t>これから </a:t>
            </a:r>
            <a:r>
              <a:rPr kumimoji="1" lang="en-US" altLang="ja-JP" dirty="0"/>
              <a:t>– open discussion</a:t>
            </a:r>
            <a:endParaRPr kumimoji="1" lang="ja-JP" altLang="en-US" dirty="0"/>
          </a:p>
        </p:txBody>
      </p:sp>
      <p:sp>
        <p:nvSpPr>
          <p:cNvPr id="3" name="コンテンツ プレースホルダー 2">
            <a:extLst>
              <a:ext uri="{FF2B5EF4-FFF2-40B4-BE49-F238E27FC236}">
                <a16:creationId xmlns:a16="http://schemas.microsoft.com/office/drawing/2014/main" id="{8A18B9CB-A16B-B1B8-94BA-A7CE3B5F6678}"/>
              </a:ext>
            </a:extLst>
          </p:cNvPr>
          <p:cNvSpPr>
            <a:spLocks noGrp="1"/>
          </p:cNvSpPr>
          <p:nvPr>
            <p:ph idx="1"/>
          </p:nvPr>
        </p:nvSpPr>
        <p:spPr/>
        <p:txBody>
          <a:bodyPr/>
          <a:lstStyle/>
          <a:p>
            <a:r>
              <a:rPr kumimoji="1" lang="ja-JP" altLang="en-US" dirty="0"/>
              <a:t>ビルディングブロックによる階層構造とモノリシック構造</a:t>
            </a:r>
            <a:endParaRPr kumimoji="1" lang="en-US" altLang="ja-JP" dirty="0"/>
          </a:p>
          <a:p>
            <a:r>
              <a:rPr kumimoji="1" lang="ja-JP" altLang="en-US" dirty="0"/>
              <a:t>分散</a:t>
            </a:r>
            <a:r>
              <a:rPr kumimoji="1" lang="en-US" altLang="ja-JP" dirty="0"/>
              <a:t>API</a:t>
            </a:r>
            <a:r>
              <a:rPr kumimoji="1" lang="ja-JP" altLang="en-US" dirty="0"/>
              <a:t>をつないでの連携処理と集中処理</a:t>
            </a:r>
            <a:endParaRPr kumimoji="1" lang="en-US" altLang="ja-JP" dirty="0"/>
          </a:p>
          <a:p>
            <a:pPr lvl="1"/>
            <a:r>
              <a:rPr lang="ja-JP" altLang="en-US" dirty="0"/>
              <a:t>結局はデータがどうなってるか依存？</a:t>
            </a:r>
            <a:endParaRPr lang="en-US" altLang="ja-JP" dirty="0"/>
          </a:p>
          <a:p>
            <a:r>
              <a:rPr kumimoji="1" lang="ja-JP" altLang="en-US" dirty="0"/>
              <a:t>パフォーマンス確保と処理の融通性の天秤</a:t>
            </a:r>
            <a:endParaRPr kumimoji="1" lang="en-US" altLang="ja-JP" dirty="0"/>
          </a:p>
        </p:txBody>
      </p:sp>
    </p:spTree>
    <p:extLst>
      <p:ext uri="{BB962C8B-B14F-4D97-AF65-F5344CB8AC3E}">
        <p14:creationId xmlns:p14="http://schemas.microsoft.com/office/powerpoint/2010/main" val="212885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57E87BEB-7371-B267-6E13-52479C1FCDF2}"/>
              </a:ext>
            </a:extLst>
          </p:cNvPr>
          <p:cNvSpPr>
            <a:spLocks noGrp="1"/>
          </p:cNvSpPr>
          <p:nvPr>
            <p:ph type="title"/>
          </p:nvPr>
        </p:nvSpPr>
        <p:spPr/>
        <p:txBody>
          <a:bodyPr/>
          <a:lstStyle/>
          <a:p>
            <a:r>
              <a:rPr lang="ja-JP" altLang="en-US" dirty="0"/>
              <a:t>参考資料</a:t>
            </a:r>
          </a:p>
        </p:txBody>
      </p:sp>
    </p:spTree>
    <p:extLst>
      <p:ext uri="{BB962C8B-B14F-4D97-AF65-F5344CB8AC3E}">
        <p14:creationId xmlns:p14="http://schemas.microsoft.com/office/powerpoint/2010/main" val="600569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8F62FA-DB60-4708-A3EF-9D2E76471214}"/>
              </a:ext>
            </a:extLst>
          </p:cNvPr>
          <p:cNvSpPr>
            <a:spLocks noGrp="1"/>
          </p:cNvSpPr>
          <p:nvPr>
            <p:ph type="title"/>
          </p:nvPr>
        </p:nvSpPr>
        <p:spPr/>
        <p:txBody>
          <a:bodyPr/>
          <a:lstStyle/>
          <a:p>
            <a:r>
              <a:rPr kumimoji="1" lang="en-US" altLang="ja-JP" dirty="0"/>
              <a:t>Web Audio</a:t>
            </a:r>
            <a:endParaRPr kumimoji="1" lang="ja-JP" altLang="en-US" dirty="0"/>
          </a:p>
        </p:txBody>
      </p:sp>
      <p:sp>
        <p:nvSpPr>
          <p:cNvPr id="12" name="コンテンツ プレースホルダー 11">
            <a:extLst>
              <a:ext uri="{FF2B5EF4-FFF2-40B4-BE49-F238E27FC236}">
                <a16:creationId xmlns:a16="http://schemas.microsoft.com/office/drawing/2014/main" id="{5F16B477-20DF-99C1-8915-DAE0B818E186}"/>
              </a:ext>
            </a:extLst>
          </p:cNvPr>
          <p:cNvSpPr>
            <a:spLocks noGrp="1"/>
          </p:cNvSpPr>
          <p:nvPr>
            <p:ph idx="1"/>
          </p:nvPr>
        </p:nvSpPr>
        <p:spPr>
          <a:xfrm>
            <a:off x="6445189" y="1825625"/>
            <a:ext cx="5529788" cy="4351338"/>
          </a:xfrm>
        </p:spPr>
        <p:txBody>
          <a:bodyPr/>
          <a:lstStyle/>
          <a:p>
            <a:r>
              <a:rPr lang="en-US" altLang="ja-JP" dirty="0"/>
              <a:t>JS</a:t>
            </a:r>
            <a:r>
              <a:rPr lang="ja-JP" altLang="en-US" dirty="0"/>
              <a:t>での</a:t>
            </a:r>
            <a:r>
              <a:rPr lang="en-US" altLang="ja-JP" dirty="0"/>
              <a:t>audio graph</a:t>
            </a:r>
            <a:r>
              <a:rPr lang="ja-JP" altLang="en-US" dirty="0"/>
              <a:t>作成機能</a:t>
            </a:r>
            <a:endParaRPr lang="en-US" altLang="ja-JP" dirty="0"/>
          </a:p>
          <a:p>
            <a:r>
              <a:rPr lang="en-US" altLang="ja-JP" dirty="0"/>
              <a:t>API</a:t>
            </a:r>
            <a:r>
              <a:rPr lang="ja-JP" altLang="en-US" dirty="0"/>
              <a:t>自体はバッファーの定義や</a:t>
            </a:r>
            <a:r>
              <a:rPr lang="en-US" altLang="ja-JP" dirty="0"/>
              <a:t>graph</a:t>
            </a:r>
            <a:r>
              <a:rPr lang="ja-JP" altLang="en-US" dirty="0"/>
              <a:t>・対外接続機能、処理</a:t>
            </a:r>
            <a:r>
              <a:rPr lang="en-US" altLang="ja-JP" dirty="0"/>
              <a:t>Node</a:t>
            </a:r>
            <a:r>
              <a:rPr lang="ja-JP" altLang="en-US" dirty="0"/>
              <a:t>のベース、基本的なフィルターの定義</a:t>
            </a:r>
            <a:endParaRPr lang="en-US" altLang="ja-JP" dirty="0"/>
          </a:p>
          <a:p>
            <a:r>
              <a:rPr lang="ja-JP" altLang="en-US" dirty="0"/>
              <a:t>音声処理などの</a:t>
            </a:r>
            <a:r>
              <a:rPr lang="en-US" altLang="ja-JP" dirty="0"/>
              <a:t>Node</a:t>
            </a:r>
            <a:r>
              <a:rPr lang="ja-JP" altLang="en-US" dirty="0"/>
              <a:t>を作成してつないで利用する</a:t>
            </a:r>
          </a:p>
        </p:txBody>
      </p:sp>
      <p:pic>
        <p:nvPicPr>
          <p:cNvPr id="11" name="図 10">
            <a:extLst>
              <a:ext uri="{FF2B5EF4-FFF2-40B4-BE49-F238E27FC236}">
                <a16:creationId xmlns:a16="http://schemas.microsoft.com/office/drawing/2014/main" id="{5B38BFA5-E448-C559-2278-1FD9A08C4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211" y="1952952"/>
            <a:ext cx="5760000" cy="4096684"/>
          </a:xfrm>
          <a:prstGeom prst="rect">
            <a:avLst/>
          </a:prstGeom>
        </p:spPr>
      </p:pic>
    </p:spTree>
    <p:extLst>
      <p:ext uri="{BB962C8B-B14F-4D97-AF65-F5344CB8AC3E}">
        <p14:creationId xmlns:p14="http://schemas.microsoft.com/office/powerpoint/2010/main" val="700880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0264F2-0092-6914-6542-C89A2BE17C19}"/>
              </a:ext>
            </a:extLst>
          </p:cNvPr>
          <p:cNvSpPr>
            <a:spLocks noGrp="1"/>
          </p:cNvSpPr>
          <p:nvPr>
            <p:ph type="title"/>
          </p:nvPr>
        </p:nvSpPr>
        <p:spPr/>
        <p:txBody>
          <a:bodyPr/>
          <a:lstStyle/>
          <a:p>
            <a:r>
              <a:rPr kumimoji="1" lang="en-US" altLang="ja-JP" dirty="0" err="1"/>
              <a:t>OpenUI</a:t>
            </a:r>
            <a:r>
              <a:rPr kumimoji="1" lang="en-US" altLang="ja-JP" dirty="0"/>
              <a:t> analysis and proposals</a:t>
            </a:r>
            <a:endParaRPr kumimoji="1" lang="ja-JP" altLang="en-US" dirty="0"/>
          </a:p>
        </p:txBody>
      </p:sp>
      <p:pic>
        <p:nvPicPr>
          <p:cNvPr id="5" name="図 4">
            <a:extLst>
              <a:ext uri="{FF2B5EF4-FFF2-40B4-BE49-F238E27FC236}">
                <a16:creationId xmlns:a16="http://schemas.microsoft.com/office/drawing/2014/main" id="{89F7B9CB-1260-501A-2922-746FE4B69FE0}"/>
              </a:ext>
            </a:extLst>
          </p:cNvPr>
          <p:cNvPicPr>
            <a:picLocks noChangeAspect="1"/>
          </p:cNvPicPr>
          <p:nvPr/>
        </p:nvPicPr>
        <p:blipFill>
          <a:blip r:embed="rId2"/>
          <a:stretch>
            <a:fillRect/>
          </a:stretch>
        </p:blipFill>
        <p:spPr>
          <a:xfrm>
            <a:off x="766360" y="1381853"/>
            <a:ext cx="4268861" cy="5400000"/>
          </a:xfrm>
          <a:prstGeom prst="rect">
            <a:avLst/>
          </a:prstGeom>
        </p:spPr>
      </p:pic>
      <p:pic>
        <p:nvPicPr>
          <p:cNvPr id="7" name="図 6">
            <a:extLst>
              <a:ext uri="{FF2B5EF4-FFF2-40B4-BE49-F238E27FC236}">
                <a16:creationId xmlns:a16="http://schemas.microsoft.com/office/drawing/2014/main" id="{C50D27BB-2C28-7162-09E2-ED2E67E53457}"/>
              </a:ext>
            </a:extLst>
          </p:cNvPr>
          <p:cNvPicPr>
            <a:picLocks noChangeAspect="1"/>
          </p:cNvPicPr>
          <p:nvPr/>
        </p:nvPicPr>
        <p:blipFill>
          <a:blip r:embed="rId3"/>
          <a:stretch>
            <a:fillRect/>
          </a:stretch>
        </p:blipFill>
        <p:spPr>
          <a:xfrm>
            <a:off x="5175412" y="1381853"/>
            <a:ext cx="6783921" cy="5400000"/>
          </a:xfrm>
          <a:prstGeom prst="rect">
            <a:avLst/>
          </a:prstGeom>
        </p:spPr>
      </p:pic>
    </p:spTree>
    <p:extLst>
      <p:ext uri="{BB962C8B-B14F-4D97-AF65-F5344CB8AC3E}">
        <p14:creationId xmlns:p14="http://schemas.microsoft.com/office/powerpoint/2010/main" val="2864308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B1891D-C580-F767-5DE3-091B999CD5A3}"/>
              </a:ext>
            </a:extLst>
          </p:cNvPr>
          <p:cNvSpPr>
            <a:spLocks noGrp="1"/>
          </p:cNvSpPr>
          <p:nvPr>
            <p:ph type="title"/>
          </p:nvPr>
        </p:nvSpPr>
        <p:spPr/>
        <p:txBody>
          <a:bodyPr/>
          <a:lstStyle/>
          <a:p>
            <a:r>
              <a:rPr kumimoji="1" lang="en-US" altLang="ja-JP" dirty="0"/>
              <a:t>TPAC 2025</a:t>
            </a:r>
            <a:endParaRPr kumimoji="1" lang="ja-JP" altLang="en-US" dirty="0"/>
          </a:p>
        </p:txBody>
      </p:sp>
      <p:sp>
        <p:nvSpPr>
          <p:cNvPr id="3" name="コンテンツ プレースホルダー 2">
            <a:extLst>
              <a:ext uri="{FF2B5EF4-FFF2-40B4-BE49-F238E27FC236}">
                <a16:creationId xmlns:a16="http://schemas.microsoft.com/office/drawing/2014/main" id="{F4579193-1167-5BDA-49E3-AC21637BDD01}"/>
              </a:ext>
            </a:extLst>
          </p:cNvPr>
          <p:cNvSpPr>
            <a:spLocks noGrp="1"/>
          </p:cNvSpPr>
          <p:nvPr>
            <p:ph idx="1"/>
          </p:nvPr>
        </p:nvSpPr>
        <p:spPr>
          <a:xfrm>
            <a:off x="838200" y="1825625"/>
            <a:ext cx="10515600" cy="4667250"/>
          </a:xfrm>
        </p:spPr>
        <p:txBody>
          <a:bodyPr>
            <a:normAutofit/>
          </a:bodyPr>
          <a:lstStyle/>
          <a:p>
            <a:pPr marL="0" indent="0">
              <a:buNone/>
            </a:pPr>
            <a:r>
              <a:rPr lang="en-US" altLang="ja-JP" dirty="0"/>
              <a:t>W3C TPAC 2025 </a:t>
            </a:r>
            <a:r>
              <a:rPr lang="en-US" altLang="ja-JP" dirty="0">
                <a:hlinkClick r:id="rId2"/>
              </a:rPr>
              <a:t>https://www.w3.org/2025/11/TPAC/</a:t>
            </a:r>
            <a:endParaRPr lang="ja-JP" altLang="en-US" dirty="0"/>
          </a:p>
          <a:p>
            <a:pPr marL="0" indent="0">
              <a:buNone/>
            </a:pPr>
            <a:r>
              <a:rPr lang="en-US" altLang="ja-JP" dirty="0"/>
              <a:t>2025</a:t>
            </a:r>
            <a:r>
              <a:rPr lang="ja-JP" altLang="en-US" dirty="0"/>
              <a:t>年</a:t>
            </a:r>
            <a:r>
              <a:rPr lang="en-US" altLang="ja-JP" dirty="0"/>
              <a:t>11</a:t>
            </a:r>
            <a:r>
              <a:rPr lang="ja-JP" altLang="en-US" dirty="0"/>
              <a:t>月</a:t>
            </a:r>
            <a:r>
              <a:rPr lang="en-US" altLang="ja-JP" dirty="0"/>
              <a:t>10</a:t>
            </a:r>
            <a:r>
              <a:rPr lang="ja-JP" altLang="en-US" dirty="0"/>
              <a:t>日 </a:t>
            </a:r>
            <a:r>
              <a:rPr lang="en-US" altLang="ja-JP" dirty="0"/>
              <a:t>(</a:t>
            </a:r>
            <a:r>
              <a:rPr lang="ja-JP" altLang="en-US" dirty="0"/>
              <a:t>月</a:t>
            </a:r>
            <a:r>
              <a:rPr lang="en-US" altLang="ja-JP" dirty="0"/>
              <a:t>) 〜 14</a:t>
            </a:r>
            <a:r>
              <a:rPr lang="ja-JP" altLang="en-US" dirty="0"/>
              <a:t>日 </a:t>
            </a:r>
            <a:r>
              <a:rPr lang="en-US" altLang="ja-JP" dirty="0"/>
              <a:t>(</a:t>
            </a:r>
            <a:r>
              <a:rPr lang="ja-JP" altLang="en-US" dirty="0"/>
              <a:t>金</a:t>
            </a:r>
            <a:r>
              <a:rPr lang="en-US" altLang="ja-JP" dirty="0"/>
              <a:t>)</a:t>
            </a:r>
          </a:p>
          <a:p>
            <a:pPr marL="0" indent="0">
              <a:buNone/>
            </a:pPr>
            <a:r>
              <a:rPr lang="ja-JP" altLang="en-US" dirty="0"/>
              <a:t>神戸国際会議場 </a:t>
            </a:r>
            <a:r>
              <a:rPr lang="en-US" altLang="ja-JP" dirty="0"/>
              <a:t>/ </a:t>
            </a:r>
            <a:r>
              <a:rPr lang="ja-JP" altLang="en-US" dirty="0"/>
              <a:t>ハイブリッド </a:t>
            </a:r>
            <a:r>
              <a:rPr lang="en-US" altLang="ja-JP" dirty="0"/>
              <a:t>(</a:t>
            </a:r>
            <a:r>
              <a:rPr lang="ja-JP" altLang="en-US" dirty="0"/>
              <a:t>現地 </a:t>
            </a:r>
            <a:r>
              <a:rPr lang="en-US" altLang="ja-JP" dirty="0"/>
              <a:t>+ </a:t>
            </a:r>
            <a:r>
              <a:rPr lang="ja-JP" altLang="en-US" dirty="0"/>
              <a:t>オンライン</a:t>
            </a:r>
            <a:r>
              <a:rPr lang="en-US" altLang="ja-JP" dirty="0"/>
              <a:t>)</a:t>
            </a:r>
          </a:p>
          <a:p>
            <a:pPr marL="0" indent="0">
              <a:buNone/>
            </a:pPr>
            <a:r>
              <a:rPr lang="ja-JP" altLang="en-US" dirty="0"/>
              <a:t>スケジュール </a:t>
            </a:r>
          </a:p>
          <a:p>
            <a:pPr lvl="1"/>
            <a:r>
              <a:rPr lang="ja-JP" altLang="en-US" dirty="0"/>
              <a:t>グループミーティング</a:t>
            </a:r>
            <a:r>
              <a:rPr lang="en-US" altLang="ja-JP" dirty="0"/>
              <a:t>: 11/10 (</a:t>
            </a:r>
            <a:r>
              <a:rPr lang="ja-JP" altLang="en-US" dirty="0"/>
              <a:t>月</a:t>
            </a:r>
            <a:r>
              <a:rPr lang="en-US" altLang="ja-JP" dirty="0"/>
              <a:t>), 11 (</a:t>
            </a:r>
            <a:r>
              <a:rPr lang="ja-JP" altLang="en-US" dirty="0"/>
              <a:t>火</a:t>
            </a:r>
            <a:r>
              <a:rPr lang="en-US" altLang="ja-JP" dirty="0"/>
              <a:t>), 13 (</a:t>
            </a:r>
            <a:r>
              <a:rPr lang="ja-JP" altLang="en-US" dirty="0"/>
              <a:t>水</a:t>
            </a:r>
            <a:r>
              <a:rPr lang="en-US" altLang="ja-JP" dirty="0"/>
              <a:t>), 14 (</a:t>
            </a:r>
            <a:r>
              <a:rPr lang="ja-JP" altLang="en-US" dirty="0"/>
              <a:t>金</a:t>
            </a:r>
            <a:r>
              <a:rPr lang="en-US" altLang="ja-JP" dirty="0"/>
              <a:t>)</a:t>
            </a:r>
          </a:p>
          <a:p>
            <a:pPr lvl="1"/>
            <a:r>
              <a:rPr lang="en-US" altLang="ja-JP" dirty="0"/>
              <a:t>AC</a:t>
            </a:r>
            <a:r>
              <a:rPr lang="ja-JP" altLang="en-US" dirty="0"/>
              <a:t>セッション </a:t>
            </a:r>
            <a:r>
              <a:rPr lang="en-US" altLang="ja-JP" dirty="0"/>
              <a:t>(</a:t>
            </a:r>
            <a:r>
              <a:rPr lang="ja-JP" altLang="en-US" dirty="0"/>
              <a:t>オンライン</a:t>
            </a:r>
            <a:r>
              <a:rPr lang="en-US" altLang="ja-JP" dirty="0"/>
              <a:t>): 10/28 (</a:t>
            </a:r>
            <a:r>
              <a:rPr lang="ja-JP" altLang="en-US" dirty="0"/>
              <a:t>火</a:t>
            </a:r>
            <a:r>
              <a:rPr lang="en-US" altLang="ja-JP" dirty="0"/>
              <a:t>) 22:30</a:t>
            </a:r>
            <a:r>
              <a:rPr lang="ja-JP" altLang="en-US" dirty="0"/>
              <a:t>～</a:t>
            </a:r>
            <a:r>
              <a:rPr lang="en-US" altLang="ja-JP" dirty="0"/>
              <a:t>24:00</a:t>
            </a:r>
          </a:p>
          <a:p>
            <a:pPr lvl="1"/>
            <a:r>
              <a:rPr lang="ja-JP" altLang="en-US" dirty="0"/>
              <a:t>ブレイクアウトセッション</a:t>
            </a:r>
            <a:endParaRPr lang="en-US" altLang="ja-JP" dirty="0"/>
          </a:p>
          <a:p>
            <a:pPr lvl="2"/>
            <a:r>
              <a:rPr lang="en-US" altLang="ja-JP" dirty="0"/>
              <a:t>11/10 (</a:t>
            </a:r>
            <a:r>
              <a:rPr lang="ja-JP" altLang="en-US" dirty="0"/>
              <a:t>月</a:t>
            </a:r>
            <a:r>
              <a:rPr lang="en-US" altLang="ja-JP" dirty="0"/>
              <a:t>) 17:00</a:t>
            </a:r>
            <a:r>
              <a:rPr lang="ja-JP" altLang="en-US" dirty="0"/>
              <a:t>～</a:t>
            </a:r>
            <a:r>
              <a:rPr lang="en-US" altLang="ja-JP" dirty="0"/>
              <a:t>18:00</a:t>
            </a:r>
          </a:p>
          <a:p>
            <a:pPr lvl="2"/>
            <a:r>
              <a:rPr lang="en-US" altLang="ja-JP" dirty="0"/>
              <a:t>11/11 (</a:t>
            </a:r>
            <a:r>
              <a:rPr lang="ja-JP" altLang="en-US" dirty="0"/>
              <a:t>火</a:t>
            </a:r>
            <a:r>
              <a:rPr lang="en-US" altLang="ja-JP" dirty="0"/>
              <a:t>) 08:30</a:t>
            </a:r>
            <a:r>
              <a:rPr lang="ja-JP" altLang="en-US" dirty="0"/>
              <a:t>～</a:t>
            </a:r>
            <a:r>
              <a:rPr lang="en-US" altLang="ja-JP" dirty="0"/>
              <a:t>09:30</a:t>
            </a:r>
          </a:p>
          <a:p>
            <a:pPr lvl="2"/>
            <a:r>
              <a:rPr lang="en-US" altLang="ja-JP" dirty="0"/>
              <a:t>11/12 (</a:t>
            </a:r>
            <a:r>
              <a:rPr lang="ja-JP" altLang="en-US" dirty="0"/>
              <a:t>水</a:t>
            </a:r>
            <a:r>
              <a:rPr lang="en-US" altLang="ja-JP" dirty="0"/>
              <a:t>) 08:30</a:t>
            </a:r>
            <a:r>
              <a:rPr lang="ja-JP" altLang="en-US" dirty="0"/>
              <a:t>～</a:t>
            </a:r>
            <a:r>
              <a:rPr lang="en-US" altLang="ja-JP" dirty="0"/>
              <a:t>18:30</a:t>
            </a:r>
          </a:p>
          <a:p>
            <a:pPr lvl="2"/>
            <a:r>
              <a:rPr lang="en-US" altLang="ja-JP" dirty="0"/>
              <a:t>11/13 (</a:t>
            </a:r>
            <a:r>
              <a:rPr lang="ja-JP" altLang="en-US" dirty="0"/>
              <a:t>木</a:t>
            </a:r>
            <a:r>
              <a:rPr lang="en-US" altLang="ja-JP" dirty="0"/>
              <a:t>) 17:00</a:t>
            </a:r>
            <a:r>
              <a:rPr lang="ja-JP" altLang="en-US" dirty="0"/>
              <a:t>～</a:t>
            </a:r>
            <a:r>
              <a:rPr lang="en-US" altLang="ja-JP" dirty="0"/>
              <a:t>18:00</a:t>
            </a:r>
          </a:p>
          <a:p>
            <a:pPr marL="0" indent="0">
              <a:buNone/>
            </a:pPr>
            <a:endParaRPr kumimoji="1" lang="ja-JP" altLang="en-US" dirty="0"/>
          </a:p>
        </p:txBody>
      </p:sp>
    </p:spTree>
    <p:extLst>
      <p:ext uri="{BB962C8B-B14F-4D97-AF65-F5344CB8AC3E}">
        <p14:creationId xmlns:p14="http://schemas.microsoft.com/office/powerpoint/2010/main" val="3182447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DC26AC-1807-3839-0C07-D18E09ABE14F}"/>
              </a:ext>
            </a:extLst>
          </p:cNvPr>
          <p:cNvSpPr>
            <a:spLocks noGrp="1"/>
          </p:cNvSpPr>
          <p:nvPr>
            <p:ph type="title"/>
          </p:nvPr>
        </p:nvSpPr>
        <p:spPr>
          <a:xfrm>
            <a:off x="838199" y="365125"/>
            <a:ext cx="11191043" cy="1325563"/>
          </a:xfrm>
        </p:spPr>
        <p:txBody>
          <a:bodyPr/>
          <a:lstStyle/>
          <a:p>
            <a:r>
              <a:rPr kumimoji="1" lang="en-US" altLang="ja-JP" dirty="0"/>
              <a:t>Kobe Developer Meetup @ Anchor</a:t>
            </a:r>
            <a:r>
              <a:rPr lang="ja-JP" altLang="en-US" dirty="0"/>
              <a:t> </a:t>
            </a:r>
            <a:r>
              <a:rPr lang="en-US" altLang="ja-JP" dirty="0"/>
              <a:t>KOBE</a:t>
            </a:r>
            <a:endParaRPr kumimoji="1" lang="ja-JP" altLang="en-US" dirty="0"/>
          </a:p>
        </p:txBody>
      </p:sp>
      <p:sp>
        <p:nvSpPr>
          <p:cNvPr id="3" name="コンテンツ プレースホルダー 2">
            <a:extLst>
              <a:ext uri="{FF2B5EF4-FFF2-40B4-BE49-F238E27FC236}">
                <a16:creationId xmlns:a16="http://schemas.microsoft.com/office/drawing/2014/main" id="{E251D66C-39F6-A6A2-54D4-15BF47402FB2}"/>
              </a:ext>
            </a:extLst>
          </p:cNvPr>
          <p:cNvSpPr>
            <a:spLocks noGrp="1"/>
          </p:cNvSpPr>
          <p:nvPr>
            <p:ph idx="1"/>
          </p:nvPr>
        </p:nvSpPr>
        <p:spPr>
          <a:xfrm>
            <a:off x="838200" y="1701333"/>
            <a:ext cx="10515600" cy="4351338"/>
          </a:xfrm>
        </p:spPr>
        <p:txBody>
          <a:bodyPr/>
          <a:lstStyle/>
          <a:p>
            <a:pPr marL="0" indent="0">
              <a:buNone/>
            </a:pPr>
            <a:r>
              <a:rPr lang="en-US" altLang="ja-JP" dirty="0">
                <a:hlinkClick r:id="rId2"/>
              </a:rPr>
              <a:t>https://ti.to/ntt-db/kobe-developer-meetup</a:t>
            </a:r>
            <a:endParaRPr lang="en-US" altLang="ja-JP" dirty="0"/>
          </a:p>
          <a:p>
            <a:pPr marL="0" indent="0">
              <a:buNone/>
            </a:pPr>
            <a:r>
              <a:rPr lang="en-US" altLang="ja-JP" dirty="0"/>
              <a:t>2025/11/09</a:t>
            </a:r>
          </a:p>
          <a:p>
            <a:pPr marL="0" indent="0">
              <a:buNone/>
            </a:pPr>
            <a:r>
              <a:rPr lang="en-US" altLang="ja-JP" dirty="0"/>
              <a:t>1630</a:t>
            </a:r>
            <a:r>
              <a:rPr lang="ja-JP" altLang="en-US" dirty="0"/>
              <a:t>開場</a:t>
            </a:r>
            <a:endParaRPr lang="en-US" altLang="ja-JP" dirty="0"/>
          </a:p>
          <a:p>
            <a:pPr marL="0" indent="0">
              <a:buNone/>
            </a:pPr>
            <a:r>
              <a:rPr lang="en-US" altLang="ja-JP" dirty="0"/>
              <a:t>1700-2000</a:t>
            </a:r>
          </a:p>
        </p:txBody>
      </p:sp>
      <p:pic>
        <p:nvPicPr>
          <p:cNvPr id="5" name="図 4">
            <a:extLst>
              <a:ext uri="{FF2B5EF4-FFF2-40B4-BE49-F238E27FC236}">
                <a16:creationId xmlns:a16="http://schemas.microsoft.com/office/drawing/2014/main" id="{370ED3D0-1439-051A-0639-3BBD328EBC8E}"/>
              </a:ext>
            </a:extLst>
          </p:cNvPr>
          <p:cNvPicPr>
            <a:picLocks noChangeAspect="1"/>
          </p:cNvPicPr>
          <p:nvPr/>
        </p:nvPicPr>
        <p:blipFill>
          <a:blip r:embed="rId3"/>
          <a:stretch>
            <a:fillRect/>
          </a:stretch>
        </p:blipFill>
        <p:spPr>
          <a:xfrm>
            <a:off x="4361710" y="2178000"/>
            <a:ext cx="7830290" cy="4680000"/>
          </a:xfrm>
          <a:prstGeom prst="rect">
            <a:avLst/>
          </a:prstGeom>
        </p:spPr>
      </p:pic>
    </p:spTree>
    <p:extLst>
      <p:ext uri="{BB962C8B-B14F-4D97-AF65-F5344CB8AC3E}">
        <p14:creationId xmlns:p14="http://schemas.microsoft.com/office/powerpoint/2010/main" val="188631300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UD-NP">
      <a:majorFont>
        <a:latin typeface="UD デジタル 教科書体 NP"/>
        <a:ea typeface="UD デジタル 教科書体 NP"/>
        <a:cs typeface=""/>
      </a:majorFont>
      <a:minorFont>
        <a:latin typeface="UD デジタル 教科書体 NP"/>
        <a:ea typeface="UD デジタル 教科書体 N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TotalTime>
  <Words>779</Words>
  <Application>Microsoft Office PowerPoint</Application>
  <PresentationFormat>ワイド画面</PresentationFormat>
  <Paragraphs>85</Paragraphs>
  <Slides>15</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UD デジタル 教科書体 NP</vt:lpstr>
      <vt:lpstr>Arial</vt:lpstr>
      <vt:lpstr>Office テーマ</vt:lpstr>
      <vt:lpstr>ウェブ関連標準化とオープンソース実装の関係性と展望</vt:lpstr>
      <vt:lpstr>Overview</vt:lpstr>
      <vt:lpstr>PowerPoint プレゼンテーション</vt:lpstr>
      <vt:lpstr>最近5年くらいのアップデート</vt:lpstr>
      <vt:lpstr>HTTP, WebRTC周りの変遷</vt:lpstr>
      <vt:lpstr>SDO間の相互連携</vt:lpstr>
      <vt:lpstr>SDO間の相互連携 (II)</vt:lpstr>
      <vt:lpstr>Single implementation by OSS</vt:lpstr>
      <vt:lpstr>OSSと標準仕様の相互循環</vt:lpstr>
      <vt:lpstr>これから – open discussion</vt:lpstr>
      <vt:lpstr>参考資料</vt:lpstr>
      <vt:lpstr>Web Audio</vt:lpstr>
      <vt:lpstr>OpenUI analysis and proposals</vt:lpstr>
      <vt:lpstr>TPAC 2025</vt:lpstr>
      <vt:lpstr>Kobe Developer Meetup @ Anchor KOBE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Atsushi Shimono</dc:creator>
  <cp:lastModifiedBy>Atsushi Shimono</cp:lastModifiedBy>
  <cp:revision>11</cp:revision>
  <cp:lastPrinted>2025-11-05T19:59:02Z</cp:lastPrinted>
  <dcterms:created xsi:type="dcterms:W3CDTF">2025-11-05T10:38:35Z</dcterms:created>
  <dcterms:modified xsi:type="dcterms:W3CDTF">2025-11-06T16:55:59Z</dcterms:modified>
</cp:coreProperties>
</file>